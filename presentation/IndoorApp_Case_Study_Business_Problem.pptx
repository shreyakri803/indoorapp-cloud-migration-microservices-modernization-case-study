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odec Pro Bold" charset="1" panose="00000600000000000000"/>
      <p:regular r:id="rId20"/>
    </p:embeddedFont>
    <p:embeddedFont>
      <p:font typeface="Codec Pro" charset="1" panose="00000500000000000000"/>
      <p:regular r:id="rId21"/>
    </p:embeddedFont>
    <p:embeddedFont>
      <p:font typeface="Roboto" charset="1" panose="02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slide13.xml" Type="http://schemas.openxmlformats.org/officeDocument/2006/relationships/slide"/><Relationship Id="rId11" Target="slide11.xml" Type="http://schemas.openxmlformats.org/officeDocument/2006/relationships/slide"/><Relationship Id="rId12" Target="../media/image1.png" Type="http://schemas.openxmlformats.org/officeDocument/2006/relationships/image"/><Relationship Id="rId13" Target="../media/image2.svg" Type="http://schemas.openxmlformats.org/officeDocument/2006/relationships/image"/><Relationship Id="rId14" Target="slide14.xml" Type="http://schemas.openxmlformats.org/officeDocument/2006/relationships/slide"/><Relationship Id="rId15" Target="slide6.xml" Type="http://schemas.openxmlformats.org/officeDocument/2006/relationships/slide"/><Relationship Id="rId2" Target="slide3.xml" Type="http://schemas.openxmlformats.org/officeDocument/2006/relationships/slide"/><Relationship Id="rId3" Target="slide4.xml" Type="http://schemas.openxmlformats.org/officeDocument/2006/relationships/slide"/><Relationship Id="rId4" Target="slide5.xml" Type="http://schemas.openxmlformats.org/officeDocument/2006/relationships/slide"/><Relationship Id="rId5" Target="slide7.xml" Type="http://schemas.openxmlformats.org/officeDocument/2006/relationships/slide"/><Relationship Id="rId6" Target="slide9.xml" Type="http://schemas.openxmlformats.org/officeDocument/2006/relationships/slide"/><Relationship Id="rId7" Target="slide10.xml" Type="http://schemas.openxmlformats.org/officeDocument/2006/relationships/slide"/><Relationship Id="rId8" Target="slide8.xml" Type="http://schemas.openxmlformats.org/officeDocument/2006/relationships/slide"/><Relationship Id="rId9" Target="slide12.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slide2.xml" Type="http://schemas.openxmlformats.org/officeDocument/2006/relationship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slide2.xml" Type="http://schemas.openxmlformats.org/officeDocument/2006/relationship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C987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1190824" cy="7602388"/>
            <a:chOff x="0" y="0"/>
            <a:chExt cx="14921099" cy="10136517"/>
          </a:xfrm>
        </p:grpSpPr>
        <p:sp>
          <p:nvSpPr>
            <p:cNvPr name="TextBox 3" id="3"/>
            <p:cNvSpPr txBox="true"/>
            <p:nvPr/>
          </p:nvSpPr>
          <p:spPr>
            <a:xfrm rot="0">
              <a:off x="0" y="-66675"/>
              <a:ext cx="14921099" cy="9210676"/>
            </a:xfrm>
            <a:prstGeom prst="rect">
              <a:avLst/>
            </a:prstGeom>
          </p:spPr>
          <p:txBody>
            <a:bodyPr anchor="t" rtlCol="false" tIns="0" lIns="0" bIns="0" rIns="0">
              <a:spAutoFit/>
            </a:bodyPr>
            <a:lstStyle/>
            <a:p>
              <a:pPr algn="l">
                <a:lnSpc>
                  <a:spcPts val="13200"/>
                </a:lnSpc>
              </a:pPr>
              <a:r>
                <a:rPr lang="en-US" sz="12000" b="true">
                  <a:solidFill>
                    <a:srgbClr val="FFFFFF"/>
                  </a:solidFill>
                  <a:latin typeface="Codec Pro Bold"/>
                  <a:ea typeface="Codec Pro Bold"/>
                  <a:cs typeface="Codec Pro Bold"/>
                  <a:sym typeface="Codec Pro Bold"/>
                </a:rPr>
                <a:t>IndoorApp Cloud Migration Case Study</a:t>
              </a:r>
            </a:p>
          </p:txBody>
        </p:sp>
        <p:sp>
          <p:nvSpPr>
            <p:cNvPr name="TextBox 4" id="4"/>
            <p:cNvSpPr txBox="true"/>
            <p:nvPr/>
          </p:nvSpPr>
          <p:spPr>
            <a:xfrm rot="0">
              <a:off x="0" y="9400976"/>
              <a:ext cx="14921099" cy="735542"/>
            </a:xfrm>
            <a:prstGeom prst="rect">
              <a:avLst/>
            </a:prstGeom>
          </p:spPr>
          <p:txBody>
            <a:bodyPr anchor="t" rtlCol="false" tIns="0" lIns="0" bIns="0" rIns="0">
              <a:spAutoFit/>
            </a:bodyPr>
            <a:lstStyle/>
            <a:p>
              <a:pPr algn="l">
                <a:lnSpc>
                  <a:spcPts val="3850"/>
                </a:lnSpc>
              </a:pPr>
              <a:r>
                <a:rPr lang="en-US" sz="3500">
                  <a:solidFill>
                    <a:srgbClr val="FFFFFF"/>
                  </a:solidFill>
                  <a:latin typeface="Codec Pro"/>
                  <a:ea typeface="Codec Pro"/>
                  <a:cs typeface="Codec Pro"/>
                  <a:sym typeface="Codec Pro"/>
                </a:rPr>
                <a:t>Business Problem &amp; Solution Overview</a:t>
              </a:r>
            </a:p>
          </p:txBody>
        </p:sp>
      </p:grpSp>
      <p:grpSp>
        <p:nvGrpSpPr>
          <p:cNvPr name="Group 5" id="5"/>
          <p:cNvGrpSpPr/>
          <p:nvPr/>
        </p:nvGrpSpPr>
        <p:grpSpPr>
          <a:xfrm rot="0">
            <a:off x="14538397" y="1331433"/>
            <a:ext cx="2548513" cy="489429"/>
            <a:chOff x="0" y="0"/>
            <a:chExt cx="3398017" cy="652573"/>
          </a:xfrm>
        </p:grpSpPr>
        <p:sp>
          <p:nvSpPr>
            <p:cNvPr name="Freeform 6" id="6"/>
            <p:cNvSpPr/>
            <p:nvPr/>
          </p:nvSpPr>
          <p:spPr>
            <a:xfrm flipH="false" flipV="false" rot="0">
              <a:off x="0" y="0"/>
              <a:ext cx="790562" cy="652573"/>
            </a:xfrm>
            <a:custGeom>
              <a:avLst/>
              <a:gdLst/>
              <a:ahLst/>
              <a:cxnLst/>
              <a:rect r="r" b="b" t="t" l="l"/>
              <a:pathLst>
                <a:path h="652573" w="790562">
                  <a:moveTo>
                    <a:pt x="0" y="0"/>
                  </a:moveTo>
                  <a:lnTo>
                    <a:pt x="790562" y="0"/>
                  </a:lnTo>
                  <a:lnTo>
                    <a:pt x="790562" y="652573"/>
                  </a:lnTo>
                  <a:lnTo>
                    <a:pt x="0" y="65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013418" y="80562"/>
              <a:ext cx="2384599" cy="424774"/>
            </a:xfrm>
            <a:prstGeom prst="rect">
              <a:avLst/>
            </a:prstGeom>
          </p:spPr>
          <p:txBody>
            <a:bodyPr anchor="t" rtlCol="false" tIns="0" lIns="0" bIns="0" rIns="0">
              <a:spAutoFit/>
            </a:bodyPr>
            <a:lstStyle/>
            <a:p>
              <a:pPr algn="l">
                <a:lnSpc>
                  <a:spcPts val="2521"/>
                </a:lnSpc>
                <a:spcBef>
                  <a:spcPct val="0"/>
                </a:spcBef>
              </a:pPr>
              <a:r>
                <a:rPr lang="en-US" b="true" sz="1801">
                  <a:solidFill>
                    <a:srgbClr val="FFFFFF"/>
                  </a:solidFill>
                  <a:latin typeface="Codec Pro Bold"/>
                  <a:ea typeface="Codec Pro Bold"/>
                  <a:cs typeface="Codec Pro Bold"/>
                  <a:sym typeface="Codec Pro Bold"/>
                </a:rPr>
                <a:t>NovaSphere</a:t>
              </a:r>
            </a:p>
          </p:txBody>
        </p:sp>
      </p:grpSp>
      <p:sp>
        <p:nvSpPr>
          <p:cNvPr name="AutoShape 8" id="8">
            <a:extLst>
              <a:ext uri="{C183D7F6-B498-43B3-948B-1728B52AA6E4}">
                <adec:decorative xmlns:adec="http://schemas.microsoft.com/office/drawing/2017/decorative" val="1"/>
              </a:ext>
            </a:extLst>
          </p:cNvPr>
          <p:cNvSpPr/>
          <p:nvPr/>
        </p:nvSpPr>
        <p:spPr>
          <a:xfrm rot="5400000">
            <a:off x="8608867" y="5129212"/>
            <a:ext cx="10287000" cy="0"/>
          </a:xfrm>
          <a:prstGeom prst="line">
            <a:avLst/>
          </a:prstGeom>
          <a:ln cap="flat" w="28575">
            <a:solidFill>
              <a:srgbClr val="FFFFFF"/>
            </a:solidFill>
            <a:prstDash val="solid"/>
            <a:headEnd type="none" len="sm" w="sm"/>
            <a:tailEnd type="none" len="sm" w="sm"/>
          </a:ln>
        </p:spPr>
      </p:sp>
      <p:sp>
        <p:nvSpPr>
          <p:cNvPr name="AutoShape 9" id="9">
            <a:extLst>
              <a:ext uri="{C183D7F6-B498-43B3-948B-1728B52AA6E4}">
                <adec:decorative xmlns:adec="http://schemas.microsoft.com/office/drawing/2017/decorative" val="1"/>
              </a:ext>
            </a:extLst>
          </p:cNvPr>
          <p:cNvSpPr/>
          <p:nvPr/>
        </p:nvSpPr>
        <p:spPr>
          <a:xfrm rot="-10800000">
            <a:off x="14538397" y="8050312"/>
            <a:ext cx="2742895" cy="0"/>
          </a:xfrm>
          <a:prstGeom prst="line">
            <a:avLst/>
          </a:prstGeom>
          <a:ln cap="flat" w="28575">
            <a:solidFill>
              <a:srgbClr val="FFFFFF"/>
            </a:solidFill>
            <a:prstDash val="solid"/>
            <a:headEnd type="none" len="sm" w="sm"/>
            <a:tailEnd type="none" len="sm" w="sm"/>
          </a:ln>
        </p:spPr>
      </p:sp>
      <p:sp>
        <p:nvSpPr>
          <p:cNvPr name="TextBox 10" id="10"/>
          <p:cNvSpPr txBox="true"/>
          <p:nvPr/>
        </p:nvSpPr>
        <p:spPr>
          <a:xfrm rot="0">
            <a:off x="14538397" y="5345662"/>
            <a:ext cx="3026140" cy="2305050"/>
          </a:xfrm>
          <a:prstGeom prst="rect">
            <a:avLst/>
          </a:prstGeom>
        </p:spPr>
        <p:txBody>
          <a:bodyPr anchor="t" rtlCol="false" tIns="0" lIns="0" bIns="0" rIns="0">
            <a:spAutoFit/>
          </a:bodyPr>
          <a:lstStyle/>
          <a:p>
            <a:pPr algn="l">
              <a:lnSpc>
                <a:spcPts val="3360"/>
              </a:lnSpc>
            </a:pPr>
            <a:r>
              <a:rPr lang="en-US" sz="2400" b="true">
                <a:solidFill>
                  <a:srgbClr val="FFFFFF"/>
                </a:solidFill>
                <a:latin typeface="Codec Pro Bold"/>
                <a:ea typeface="Codec Pro Bold"/>
                <a:cs typeface="Codec Pro Bold"/>
                <a:sym typeface="Codec Pro Bold"/>
              </a:rPr>
              <a:t>Presented by:</a:t>
            </a:r>
          </a:p>
          <a:p>
            <a:pPr algn="l">
              <a:lnSpc>
                <a:spcPts val="2940"/>
              </a:lnSpc>
            </a:pPr>
            <a:r>
              <a:rPr lang="en-US" sz="2100">
                <a:solidFill>
                  <a:srgbClr val="FFFFFF"/>
                </a:solidFill>
                <a:latin typeface="Codec Pro"/>
                <a:ea typeface="Codec Pro"/>
                <a:cs typeface="Codec Pro"/>
                <a:sym typeface="Codec Pro"/>
              </a:rPr>
              <a:t>Shreya Kumari</a:t>
            </a:r>
          </a:p>
          <a:p>
            <a:pPr algn="l">
              <a:lnSpc>
                <a:spcPts val="2940"/>
              </a:lnSpc>
            </a:pPr>
          </a:p>
          <a:p>
            <a:pPr algn="l">
              <a:lnSpc>
                <a:spcPts val="2940"/>
              </a:lnSpc>
            </a:pPr>
            <a:r>
              <a:rPr lang="en-US" sz="2100" b="true">
                <a:solidFill>
                  <a:srgbClr val="FFFFFF"/>
                </a:solidFill>
                <a:latin typeface="Codec Pro Bold"/>
                <a:ea typeface="Codec Pro Bold"/>
                <a:cs typeface="Codec Pro Bold"/>
                <a:sym typeface="Codec Pro Bold"/>
              </a:rPr>
              <a:t>Role:</a:t>
            </a:r>
          </a:p>
          <a:p>
            <a:pPr algn="l">
              <a:lnSpc>
                <a:spcPts val="2940"/>
              </a:lnSpc>
            </a:pPr>
            <a:r>
              <a:rPr lang="en-US" sz="2100">
                <a:solidFill>
                  <a:srgbClr val="FFFFFF"/>
                </a:solidFill>
                <a:latin typeface="Codec Pro"/>
                <a:ea typeface="Codec Pro"/>
                <a:cs typeface="Codec Pro"/>
                <a:sym typeface="Codec Pro"/>
              </a:rPr>
              <a:t>IT Project Manager (Simulation)</a:t>
            </a:r>
          </a:p>
        </p:txBody>
      </p:sp>
      <p:sp>
        <p:nvSpPr>
          <p:cNvPr name="TextBox 11" id="11"/>
          <p:cNvSpPr txBox="true"/>
          <p:nvPr/>
        </p:nvSpPr>
        <p:spPr>
          <a:xfrm rot="0">
            <a:off x="14538397" y="8439150"/>
            <a:ext cx="3026140" cy="819150"/>
          </a:xfrm>
          <a:prstGeom prst="rect">
            <a:avLst/>
          </a:prstGeom>
        </p:spPr>
        <p:txBody>
          <a:bodyPr anchor="t" rtlCol="false" tIns="0" lIns="0" bIns="0" rIns="0">
            <a:spAutoFit/>
          </a:bodyPr>
          <a:lstStyle/>
          <a:p>
            <a:pPr algn="l">
              <a:lnSpc>
                <a:spcPts val="3360"/>
              </a:lnSpc>
            </a:pPr>
            <a:r>
              <a:rPr lang="en-US" sz="2400" b="true">
                <a:solidFill>
                  <a:srgbClr val="FFFFFF"/>
                </a:solidFill>
                <a:latin typeface="Codec Pro Bold"/>
                <a:ea typeface="Codec Pro Bold"/>
                <a:cs typeface="Codec Pro Bold"/>
                <a:sym typeface="Codec Pro Bold"/>
              </a:rPr>
              <a:t>Date Presented:</a:t>
            </a:r>
          </a:p>
          <a:p>
            <a:pPr algn="l">
              <a:lnSpc>
                <a:spcPts val="2940"/>
              </a:lnSpc>
            </a:pPr>
            <a:r>
              <a:rPr lang="en-US" sz="2100">
                <a:solidFill>
                  <a:srgbClr val="FFFFFF"/>
                </a:solidFill>
                <a:latin typeface="Codec Pro"/>
                <a:ea typeface="Codec Pro"/>
                <a:cs typeface="Codec Pro"/>
                <a:sym typeface="Codec Pro"/>
              </a:rPr>
              <a:t>Nov 09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0" y="-73092"/>
            <a:ext cx="18288000" cy="5177378"/>
          </a:xfrm>
          <a:prstGeom prst="rect">
            <a:avLst/>
          </a:prstGeom>
          <a:solidFill>
            <a:srgbClr val="7C987C"/>
          </a:solidFill>
        </p:spPr>
      </p:sp>
      <p:sp>
        <p:nvSpPr>
          <p:cNvPr name="TextBox 3" id="3"/>
          <p:cNvSpPr txBox="true"/>
          <p:nvPr/>
        </p:nvSpPr>
        <p:spPr>
          <a:xfrm rot="0">
            <a:off x="1028700" y="3196308"/>
            <a:ext cx="8115300" cy="1514419"/>
          </a:xfrm>
          <a:prstGeom prst="rect">
            <a:avLst/>
          </a:prstGeom>
        </p:spPr>
        <p:txBody>
          <a:bodyPr anchor="t" rtlCol="false" tIns="0" lIns="0" bIns="0" rIns="0">
            <a:spAutoFit/>
          </a:bodyPr>
          <a:lstStyle/>
          <a:p>
            <a:pPr algn="l" marL="0" indent="0" lvl="0">
              <a:lnSpc>
                <a:spcPts val="10800"/>
              </a:lnSpc>
              <a:spcBef>
                <a:spcPct val="0"/>
              </a:spcBef>
            </a:pPr>
            <a:r>
              <a:rPr lang="en-US" b="true" sz="9000">
                <a:solidFill>
                  <a:srgbClr val="FFFFFF"/>
                </a:solidFill>
                <a:latin typeface="Codec Pro Bold"/>
                <a:ea typeface="Codec Pro Bold"/>
                <a:cs typeface="Codec Pro Bold"/>
                <a:sym typeface="Codec Pro Bold"/>
              </a:rPr>
              <a:t>Agenda</a:t>
            </a:r>
          </a:p>
        </p:txBody>
      </p:sp>
      <p:sp>
        <p:nvSpPr>
          <p:cNvPr name="TextBox 4" id="4"/>
          <p:cNvSpPr txBox="true"/>
          <p:nvPr/>
        </p:nvSpPr>
        <p:spPr>
          <a:xfrm rot="0">
            <a:off x="1028700" y="563083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2" action="ppaction://hlinksldjump"/>
              </a:rPr>
              <a:t>Project Overview</a:t>
            </a:r>
          </a:p>
        </p:txBody>
      </p:sp>
      <p:sp>
        <p:nvSpPr>
          <p:cNvPr name="TextBox 5" id="5"/>
          <p:cNvSpPr txBox="true"/>
          <p:nvPr/>
        </p:nvSpPr>
        <p:spPr>
          <a:xfrm rot="0">
            <a:off x="1028700" y="6250552"/>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3" action="ppaction://hlinksldjump"/>
              </a:rPr>
              <a:t>Problem Statement</a:t>
            </a:r>
          </a:p>
        </p:txBody>
      </p:sp>
      <p:sp>
        <p:nvSpPr>
          <p:cNvPr name="TextBox 6" id="6"/>
          <p:cNvSpPr txBox="true"/>
          <p:nvPr/>
        </p:nvSpPr>
        <p:spPr>
          <a:xfrm rot="0">
            <a:off x="1028700" y="6870269"/>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4" action="ppaction://hlinksldjump"/>
              </a:rPr>
              <a:t>Business Impact</a:t>
            </a:r>
          </a:p>
        </p:txBody>
      </p:sp>
      <p:sp>
        <p:nvSpPr>
          <p:cNvPr name="TextBox 7" id="7"/>
          <p:cNvSpPr txBox="true"/>
          <p:nvPr/>
        </p:nvSpPr>
        <p:spPr>
          <a:xfrm rot="0">
            <a:off x="1028700" y="7951900"/>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5" action="ppaction://hlinksldjump"/>
              </a:rPr>
              <a:t>Proposed Solution</a:t>
            </a:r>
          </a:p>
        </p:txBody>
      </p:sp>
      <p:sp>
        <p:nvSpPr>
          <p:cNvPr name="TextBox 8" id="8"/>
          <p:cNvSpPr txBox="true"/>
          <p:nvPr/>
        </p:nvSpPr>
        <p:spPr>
          <a:xfrm rot="0">
            <a:off x="9814283" y="562622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6" action="ppaction://hlinksldjump"/>
              </a:rPr>
              <a:t>Migration Strategy &amp; Approach</a:t>
            </a:r>
          </a:p>
        </p:txBody>
      </p:sp>
      <p:sp>
        <p:nvSpPr>
          <p:cNvPr name="TextBox 9" id="9"/>
          <p:cNvSpPr txBox="true"/>
          <p:nvPr/>
        </p:nvSpPr>
        <p:spPr>
          <a:xfrm rot="0">
            <a:off x="9814283" y="625995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7" action="ppaction://hlinksldjump"/>
              </a:rPr>
              <a:t>Methodology (Scrum + Kanban</a:t>
            </a:r>
          </a:p>
        </p:txBody>
      </p:sp>
      <p:sp>
        <p:nvSpPr>
          <p:cNvPr name="TextBox 10" id="10"/>
          <p:cNvSpPr txBox="true"/>
          <p:nvPr/>
        </p:nvSpPr>
        <p:spPr>
          <a:xfrm rot="0">
            <a:off x="1028700" y="857610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8" action="ppaction://hlinksldjump"/>
              </a:rPr>
              <a:t>Architecture (AS-IS-&gt; TO-BE)</a:t>
            </a:r>
          </a:p>
        </p:txBody>
      </p:sp>
      <p:sp>
        <p:nvSpPr>
          <p:cNvPr name="TextBox 11" id="11"/>
          <p:cNvSpPr txBox="true"/>
          <p:nvPr/>
        </p:nvSpPr>
        <p:spPr>
          <a:xfrm rot="0">
            <a:off x="9814283" y="751819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9" action="ppaction://hlinksldjump"/>
              </a:rPr>
              <a:t>Success Metrics</a:t>
            </a:r>
          </a:p>
        </p:txBody>
      </p:sp>
      <p:sp>
        <p:nvSpPr>
          <p:cNvPr name="TextBox 12" id="12"/>
          <p:cNvSpPr txBox="true"/>
          <p:nvPr/>
        </p:nvSpPr>
        <p:spPr>
          <a:xfrm rot="0">
            <a:off x="9814283" y="814731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10" action="ppaction://hlinksldjump"/>
              </a:rPr>
              <a:t>Outcome &amp; Benefits</a:t>
            </a:r>
          </a:p>
        </p:txBody>
      </p:sp>
      <p:sp>
        <p:nvSpPr>
          <p:cNvPr name="TextBox 13" id="13"/>
          <p:cNvSpPr txBox="true"/>
          <p:nvPr/>
        </p:nvSpPr>
        <p:spPr>
          <a:xfrm rot="0">
            <a:off x="9814283" y="688907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11" action="ppaction://hlinksldjump"/>
              </a:rPr>
              <a:t>Risks &amp; Metrics</a:t>
            </a:r>
          </a:p>
        </p:txBody>
      </p:sp>
      <p:grpSp>
        <p:nvGrpSpPr>
          <p:cNvPr name="Group 14" id="14"/>
          <p:cNvGrpSpPr/>
          <p:nvPr/>
        </p:nvGrpSpPr>
        <p:grpSpPr>
          <a:xfrm rot="0">
            <a:off x="1028700" y="1028700"/>
            <a:ext cx="3394471" cy="489429"/>
            <a:chOff x="0" y="0"/>
            <a:chExt cx="4525962" cy="652573"/>
          </a:xfrm>
        </p:grpSpPr>
        <p:sp>
          <p:nvSpPr>
            <p:cNvPr name="Freeform 15" id="15"/>
            <p:cNvSpPr/>
            <p:nvPr/>
          </p:nvSpPr>
          <p:spPr>
            <a:xfrm flipH="false" flipV="false" rot="0">
              <a:off x="0" y="0"/>
              <a:ext cx="790562" cy="652573"/>
            </a:xfrm>
            <a:custGeom>
              <a:avLst/>
              <a:gdLst/>
              <a:ahLst/>
              <a:cxnLst/>
              <a:rect r="r" b="b" t="t" l="l"/>
              <a:pathLst>
                <a:path h="652573" w="790562">
                  <a:moveTo>
                    <a:pt x="0" y="0"/>
                  </a:moveTo>
                  <a:lnTo>
                    <a:pt x="790562" y="0"/>
                  </a:lnTo>
                  <a:lnTo>
                    <a:pt x="790562" y="652573"/>
                  </a:lnTo>
                  <a:lnTo>
                    <a:pt x="0" y="6525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1127967" y="39498"/>
              <a:ext cx="3397994" cy="487851"/>
            </a:xfrm>
            <a:prstGeom prst="rect">
              <a:avLst/>
            </a:prstGeom>
          </p:spPr>
          <p:txBody>
            <a:bodyPr anchor="t" rtlCol="false" tIns="0" lIns="0" bIns="0" rIns="0">
              <a:spAutoFit/>
            </a:bodyPr>
            <a:lstStyle/>
            <a:p>
              <a:pPr algn="l">
                <a:lnSpc>
                  <a:spcPts val="2801"/>
                </a:lnSpc>
                <a:spcBef>
                  <a:spcPct val="0"/>
                </a:spcBef>
              </a:pPr>
              <a:r>
                <a:rPr lang="en-US" sz="2001">
                  <a:solidFill>
                    <a:srgbClr val="FFFFFF"/>
                  </a:solidFill>
                  <a:latin typeface="Codec Pro"/>
                  <a:ea typeface="Codec Pro"/>
                  <a:cs typeface="Codec Pro"/>
                  <a:sym typeface="Codec Pro"/>
                </a:rPr>
                <a:t>NovaSphere</a:t>
              </a:r>
            </a:p>
          </p:txBody>
        </p:sp>
      </p:grpSp>
      <p:sp>
        <p:nvSpPr>
          <p:cNvPr name="TextBox 17" id="17"/>
          <p:cNvSpPr txBox="true"/>
          <p:nvPr/>
        </p:nvSpPr>
        <p:spPr>
          <a:xfrm rot="0">
            <a:off x="9814283" y="872934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14" action="ppaction://hlinksldjump"/>
              </a:rPr>
              <a:t>Summary</a:t>
            </a:r>
          </a:p>
        </p:txBody>
      </p:sp>
      <p:sp>
        <p:nvSpPr>
          <p:cNvPr name="TextBox 18" id="18"/>
          <p:cNvSpPr txBox="true"/>
          <p:nvPr/>
        </p:nvSpPr>
        <p:spPr>
          <a:xfrm rot="0">
            <a:off x="1019175" y="7403895"/>
            <a:ext cx="6024896" cy="528955"/>
          </a:xfrm>
          <a:prstGeom prst="rect">
            <a:avLst/>
          </a:prstGeom>
        </p:spPr>
        <p:txBody>
          <a:bodyPr anchor="t" rtlCol="false" tIns="0" lIns="0" bIns="0" rIns="0">
            <a:spAutoFit/>
          </a:bodyPr>
          <a:lstStyle/>
          <a:p>
            <a:pPr algn="l" marL="604523" indent="-302261" lvl="1">
              <a:lnSpc>
                <a:spcPts val="3920"/>
              </a:lnSpc>
              <a:buFont typeface="Arial"/>
              <a:buChar char="•"/>
            </a:pPr>
            <a:r>
              <a:rPr lang="en-US" sz="2800" u="sng">
                <a:solidFill>
                  <a:srgbClr val="000000"/>
                </a:solidFill>
                <a:latin typeface="Codec Pro"/>
                <a:ea typeface="Codec Pro"/>
                <a:cs typeface="Codec Pro"/>
                <a:sym typeface="Codec Pro"/>
                <a:hlinkClick r:id="rId15" action="ppaction://hlinksldjump"/>
              </a:rPr>
              <a:t>SWOT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0" y="8211094"/>
            <a:ext cx="18288000" cy="2082179"/>
          </a:xfrm>
          <a:prstGeom prst="rect">
            <a:avLst/>
          </a:prstGeom>
          <a:solidFill>
            <a:srgbClr val="7C987C"/>
          </a:solidFill>
        </p:spPr>
      </p:sp>
      <p:grpSp>
        <p:nvGrpSpPr>
          <p:cNvPr name="Group 3" id="3"/>
          <p:cNvGrpSpPr/>
          <p:nvPr/>
        </p:nvGrpSpPr>
        <p:grpSpPr>
          <a:xfrm rot="0">
            <a:off x="1028700" y="0"/>
            <a:ext cx="7325923" cy="9258300"/>
            <a:chOff x="0" y="0"/>
            <a:chExt cx="9767897" cy="12344400"/>
          </a:xfrm>
        </p:grpSpPr>
        <p:pic>
          <p:nvPicPr>
            <p:cNvPr name="Picture 4" id="4" descr="a group of colleagues looking at a laptop in an office"/>
            <p:cNvPicPr>
              <a:picLocks noChangeAspect="true"/>
            </p:cNvPicPr>
            <p:nvPr/>
          </p:nvPicPr>
          <p:blipFill>
            <a:blip r:embed="rId2"/>
            <a:srcRect l="17191" t="0" r="30056" b="0"/>
            <a:stretch>
              <a:fillRect/>
            </a:stretch>
          </p:blipFill>
          <p:spPr>
            <a:xfrm flipH="false" flipV="false">
              <a:off x="0" y="0"/>
              <a:ext cx="9767897" cy="12344400"/>
            </a:xfrm>
            <a:prstGeom prst="rect">
              <a:avLst/>
            </a:prstGeom>
          </p:spPr>
        </p:pic>
      </p:grpSp>
      <p:sp>
        <p:nvSpPr>
          <p:cNvPr name="TextBox 5" id="5"/>
          <p:cNvSpPr txBox="true"/>
          <p:nvPr/>
        </p:nvSpPr>
        <p:spPr>
          <a:xfrm rot="0">
            <a:off x="9085249" y="899628"/>
            <a:ext cx="8174051" cy="2590800"/>
          </a:xfrm>
          <a:prstGeom prst="rect">
            <a:avLst/>
          </a:prstGeom>
        </p:spPr>
        <p:txBody>
          <a:bodyPr anchor="t" rtlCol="false" tIns="0" lIns="0" bIns="0" rIns="0">
            <a:spAutoFit/>
          </a:bodyPr>
          <a:lstStyle/>
          <a:p>
            <a:pPr algn="l">
              <a:lnSpc>
                <a:spcPts val="9720"/>
              </a:lnSpc>
            </a:pPr>
            <a:r>
              <a:rPr lang="en-US" sz="8100" b="true">
                <a:solidFill>
                  <a:srgbClr val="000000"/>
                </a:solidFill>
                <a:latin typeface="Codec Pro Bold"/>
                <a:ea typeface="Codec Pro Bold"/>
                <a:cs typeface="Codec Pro Bold"/>
                <a:sym typeface="Codec Pro Bold"/>
              </a:rPr>
              <a:t>Project Overview</a:t>
            </a:r>
          </a:p>
        </p:txBody>
      </p:sp>
      <p:sp>
        <p:nvSpPr>
          <p:cNvPr name="TextBox 6" id="6"/>
          <p:cNvSpPr txBox="true"/>
          <p:nvPr/>
        </p:nvSpPr>
        <p:spPr>
          <a:xfrm rot="0">
            <a:off x="13010793" y="8896650"/>
            <a:ext cx="4248507" cy="355534"/>
          </a:xfrm>
          <a:prstGeom prst="rect">
            <a:avLst/>
          </a:prstGeom>
        </p:spPr>
        <p:txBody>
          <a:bodyPr anchor="t" rtlCol="false" tIns="0" lIns="0" bIns="0" rIns="0">
            <a:spAutoFit/>
          </a:bodyPr>
          <a:lstStyle/>
          <a:p>
            <a:pPr algn="r">
              <a:lnSpc>
                <a:spcPts val="2599"/>
              </a:lnSpc>
            </a:pPr>
            <a:r>
              <a:rPr lang="en-US" sz="1999" u="sng">
                <a:solidFill>
                  <a:srgbClr val="FFFFFF"/>
                </a:solidFill>
                <a:latin typeface="Codec Pro"/>
                <a:ea typeface="Codec Pro"/>
                <a:cs typeface="Codec Pro"/>
                <a:sym typeface="Codec Pro"/>
                <a:hlinkClick r:id="rId3" action="ppaction://hlinksldjump"/>
              </a:rPr>
              <a:t>Back to Agenda</a:t>
            </a:r>
          </a:p>
        </p:txBody>
      </p:sp>
      <p:sp>
        <p:nvSpPr>
          <p:cNvPr name="TextBox 7" id="7"/>
          <p:cNvSpPr txBox="true"/>
          <p:nvPr/>
        </p:nvSpPr>
        <p:spPr>
          <a:xfrm rot="0">
            <a:off x="9144000" y="3735771"/>
            <a:ext cx="8421944" cy="4215765"/>
          </a:xfrm>
          <a:prstGeom prst="rect">
            <a:avLst/>
          </a:prstGeom>
        </p:spPr>
        <p:txBody>
          <a:bodyPr anchor="t" rtlCol="false" tIns="0" lIns="0" bIns="0" rIns="0">
            <a:spAutoFit/>
          </a:bodyPr>
          <a:lstStyle/>
          <a:p>
            <a:pPr algn="l">
              <a:lnSpc>
                <a:spcPts val="3359"/>
              </a:lnSpc>
            </a:pPr>
            <a:r>
              <a:rPr lang="en-US" sz="2400">
                <a:solidFill>
                  <a:srgbClr val="000000"/>
                </a:solidFill>
                <a:latin typeface="Codec Pro"/>
                <a:ea typeface="Codec Pro"/>
                <a:cs typeface="Codec Pro"/>
                <a:sym typeface="Codec Pro"/>
              </a:rPr>
              <a:t>IndoorApp is NovaSphere’s internal booking and attendance system that originally ran on an outdated on-premise monolithic setup. This project focuses on modernizing the application by redesigning it into a cloud-ready, containerized microservices architecture using Docker and simulated AWS/Azure services. The migration was executed using a hybrid delivery model—Waterfall for planning and Scrum for development—while maintaining full PM documentation such as WBS, RAID, RACI, test plans, and go-live procedures.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57275"/>
            <a:ext cx="10295237" cy="2486025"/>
          </a:xfrm>
          <a:prstGeom prst="rect">
            <a:avLst/>
          </a:prstGeom>
        </p:spPr>
        <p:txBody>
          <a:bodyPr anchor="t" rtlCol="false" tIns="0" lIns="0" bIns="0" rIns="0">
            <a:spAutoFit/>
          </a:bodyPr>
          <a:lstStyle/>
          <a:p>
            <a:pPr algn="l">
              <a:lnSpc>
                <a:spcPts val="9000"/>
              </a:lnSpc>
            </a:pPr>
            <a:r>
              <a:rPr lang="en-US" sz="9000" b="true">
                <a:solidFill>
                  <a:srgbClr val="000000"/>
                </a:solidFill>
                <a:latin typeface="Codec Pro Bold"/>
                <a:ea typeface="Codec Pro Bold"/>
                <a:cs typeface="Codec Pro Bold"/>
                <a:sym typeface="Codec Pro Bold"/>
              </a:rPr>
              <a:t>Problem Statement</a:t>
            </a:r>
          </a:p>
        </p:txBody>
      </p:sp>
      <p:grpSp>
        <p:nvGrpSpPr>
          <p:cNvPr name="Group 3" id="3"/>
          <p:cNvGrpSpPr/>
          <p:nvPr/>
        </p:nvGrpSpPr>
        <p:grpSpPr>
          <a:xfrm rot="0">
            <a:off x="1028700" y="4016123"/>
            <a:ext cx="5147618" cy="5283909"/>
            <a:chOff x="0" y="0"/>
            <a:chExt cx="6863491" cy="7045212"/>
          </a:xfrm>
        </p:grpSpPr>
        <p:sp>
          <p:nvSpPr>
            <p:cNvPr name="AutoShape 4" id="4"/>
            <p:cNvSpPr/>
            <p:nvPr/>
          </p:nvSpPr>
          <p:spPr>
            <a:xfrm rot="0">
              <a:off x="0" y="0"/>
              <a:ext cx="6863491" cy="7045212"/>
            </a:xfrm>
            <a:prstGeom prst="rect">
              <a:avLst/>
            </a:prstGeom>
            <a:solidFill>
              <a:srgbClr val="365236"/>
            </a:solidFill>
          </p:spPr>
        </p:sp>
        <p:sp>
          <p:nvSpPr>
            <p:cNvPr name="TextBox 5" id="5"/>
            <p:cNvSpPr txBox="true"/>
            <p:nvPr/>
          </p:nvSpPr>
          <p:spPr>
            <a:xfrm rot="0">
              <a:off x="807463" y="2357012"/>
              <a:ext cx="5248566" cy="1165225"/>
            </a:xfrm>
            <a:prstGeom prst="rect">
              <a:avLst/>
            </a:prstGeom>
          </p:spPr>
          <p:txBody>
            <a:bodyPr anchor="t" rtlCol="false" tIns="0" lIns="0" bIns="0" rIns="0">
              <a:spAutoFit/>
            </a:bodyPr>
            <a:lstStyle/>
            <a:p>
              <a:pPr algn="l" marL="0" indent="0" lvl="0">
                <a:lnSpc>
                  <a:spcPts val="3360"/>
                </a:lnSpc>
                <a:spcBef>
                  <a:spcPct val="0"/>
                </a:spcBef>
              </a:pPr>
              <a:r>
                <a:rPr lang="en-US" b="true" sz="2800">
                  <a:solidFill>
                    <a:srgbClr val="FFFFFF"/>
                  </a:solidFill>
                  <a:latin typeface="Codec Pro Bold"/>
                  <a:ea typeface="Codec Pro Bold"/>
                  <a:cs typeface="Codec Pro Bold"/>
                  <a:sym typeface="Codec Pro Bold"/>
                </a:rPr>
                <a:t>System Reliability Failure</a:t>
              </a:r>
            </a:p>
          </p:txBody>
        </p:sp>
        <p:sp>
          <p:nvSpPr>
            <p:cNvPr name="TextBox 6" id="6"/>
            <p:cNvSpPr txBox="true"/>
            <p:nvPr/>
          </p:nvSpPr>
          <p:spPr>
            <a:xfrm rot="0">
              <a:off x="807463" y="4304875"/>
              <a:ext cx="5248566" cy="18975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Codec Pro"/>
                  <a:ea typeface="Codec Pro"/>
                  <a:cs typeface="Codec Pro"/>
                  <a:sym typeface="Codec Pro"/>
                </a:rPr>
                <a:t>NovaSphe</a:t>
              </a:r>
              <a:r>
                <a:rPr lang="en-US" sz="2000" u="none">
                  <a:solidFill>
                    <a:srgbClr val="FFFFFF"/>
                  </a:solidFill>
                  <a:latin typeface="Codec Pro"/>
                  <a:ea typeface="Codec Pro"/>
                  <a:cs typeface="Codec Pro"/>
                  <a:sym typeface="Codec Pro"/>
                </a:rPr>
                <a:t>re is experiencing frequent outages in IndoorApp due to its aging on-premise monolithic infrastructure.</a:t>
              </a:r>
            </a:p>
          </p:txBody>
        </p:sp>
        <p:sp>
          <p:nvSpPr>
            <p:cNvPr name="TextBox 7" id="7"/>
            <p:cNvSpPr txBox="true"/>
            <p:nvPr/>
          </p:nvSpPr>
          <p:spPr>
            <a:xfrm rot="0">
              <a:off x="807463" y="1110715"/>
              <a:ext cx="5248566" cy="917476"/>
            </a:xfrm>
            <a:prstGeom prst="rect">
              <a:avLst/>
            </a:prstGeom>
          </p:spPr>
          <p:txBody>
            <a:bodyPr anchor="t" rtlCol="false" tIns="0" lIns="0" bIns="0" rIns="0">
              <a:spAutoFit/>
            </a:bodyPr>
            <a:lstStyle/>
            <a:p>
              <a:pPr algn="l" marL="0" indent="0" lvl="0">
                <a:lnSpc>
                  <a:spcPts val="5040"/>
                </a:lnSpc>
                <a:spcBef>
                  <a:spcPct val="0"/>
                </a:spcBef>
              </a:pPr>
              <a:r>
                <a:rPr lang="en-US" sz="4200" u="none">
                  <a:solidFill>
                    <a:srgbClr val="FFFFFF"/>
                  </a:solidFill>
                  <a:latin typeface="Codec Pro"/>
                  <a:ea typeface="Codec Pro"/>
                  <a:cs typeface="Codec Pro"/>
                  <a:sym typeface="Codec Pro"/>
                </a:rPr>
                <a:t>01</a:t>
              </a:r>
            </a:p>
          </p:txBody>
        </p:sp>
      </p:grpSp>
      <p:grpSp>
        <p:nvGrpSpPr>
          <p:cNvPr name="Group 8" id="8"/>
          <p:cNvGrpSpPr/>
          <p:nvPr/>
        </p:nvGrpSpPr>
        <p:grpSpPr>
          <a:xfrm rot="0">
            <a:off x="6570191" y="4016123"/>
            <a:ext cx="5147618" cy="5283909"/>
            <a:chOff x="0" y="0"/>
            <a:chExt cx="6863491" cy="7045212"/>
          </a:xfrm>
        </p:grpSpPr>
        <p:sp>
          <p:nvSpPr>
            <p:cNvPr name="AutoShape 9" id="9"/>
            <p:cNvSpPr/>
            <p:nvPr/>
          </p:nvSpPr>
          <p:spPr>
            <a:xfrm rot="0">
              <a:off x="0" y="0"/>
              <a:ext cx="6863491" cy="7045212"/>
            </a:xfrm>
            <a:prstGeom prst="rect">
              <a:avLst/>
            </a:prstGeom>
            <a:solidFill>
              <a:srgbClr val="7C987C"/>
            </a:solidFill>
          </p:spPr>
        </p:sp>
        <p:sp>
          <p:nvSpPr>
            <p:cNvPr name="TextBox 10" id="10"/>
            <p:cNvSpPr txBox="true"/>
            <p:nvPr/>
          </p:nvSpPr>
          <p:spPr>
            <a:xfrm rot="0">
              <a:off x="807463" y="2357012"/>
              <a:ext cx="5248566" cy="1165225"/>
            </a:xfrm>
            <a:prstGeom prst="rect">
              <a:avLst/>
            </a:prstGeom>
          </p:spPr>
          <p:txBody>
            <a:bodyPr anchor="t" rtlCol="false" tIns="0" lIns="0" bIns="0" rIns="0">
              <a:spAutoFit/>
            </a:bodyPr>
            <a:lstStyle/>
            <a:p>
              <a:pPr algn="l" marL="0" indent="0" lvl="0">
                <a:lnSpc>
                  <a:spcPts val="3360"/>
                </a:lnSpc>
                <a:spcBef>
                  <a:spcPct val="0"/>
                </a:spcBef>
              </a:pPr>
              <a:r>
                <a:rPr lang="en-US" b="true" sz="2800">
                  <a:solidFill>
                    <a:srgbClr val="FFFFFF"/>
                  </a:solidFill>
                  <a:latin typeface="Codec Pro Bold"/>
                  <a:ea typeface="Codec Pro Bold"/>
                  <a:cs typeface="Codec Pro Bold"/>
                  <a:sym typeface="Codec Pro Bold"/>
                </a:rPr>
                <a:t>Slow and Risky Deployment Cycles</a:t>
              </a:r>
            </a:p>
          </p:txBody>
        </p:sp>
        <p:sp>
          <p:nvSpPr>
            <p:cNvPr name="TextBox 11" id="11"/>
            <p:cNvSpPr txBox="true"/>
            <p:nvPr/>
          </p:nvSpPr>
          <p:spPr>
            <a:xfrm rot="0">
              <a:off x="807463" y="1110715"/>
              <a:ext cx="5248566" cy="917476"/>
            </a:xfrm>
            <a:prstGeom prst="rect">
              <a:avLst/>
            </a:prstGeom>
          </p:spPr>
          <p:txBody>
            <a:bodyPr anchor="t" rtlCol="false" tIns="0" lIns="0" bIns="0" rIns="0">
              <a:spAutoFit/>
            </a:bodyPr>
            <a:lstStyle/>
            <a:p>
              <a:pPr algn="l" marL="0" indent="0" lvl="0">
                <a:lnSpc>
                  <a:spcPts val="5040"/>
                </a:lnSpc>
                <a:spcBef>
                  <a:spcPct val="0"/>
                </a:spcBef>
              </a:pPr>
              <a:r>
                <a:rPr lang="en-US" sz="4200" u="none">
                  <a:solidFill>
                    <a:srgbClr val="FFFFFF"/>
                  </a:solidFill>
                  <a:latin typeface="Codec Pro"/>
                  <a:ea typeface="Codec Pro"/>
                  <a:cs typeface="Codec Pro"/>
                  <a:sym typeface="Codec Pro"/>
                </a:rPr>
                <a:t>02</a:t>
              </a:r>
            </a:p>
          </p:txBody>
        </p:sp>
        <p:sp>
          <p:nvSpPr>
            <p:cNvPr name="TextBox 12" id="12"/>
            <p:cNvSpPr txBox="true"/>
            <p:nvPr/>
          </p:nvSpPr>
          <p:spPr>
            <a:xfrm rot="0">
              <a:off x="807463" y="4304875"/>
              <a:ext cx="5248566" cy="18975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Codec Pro"/>
                  <a:ea typeface="Codec Pro"/>
                  <a:cs typeface="Codec Pro"/>
                  <a:sym typeface="Codec Pro"/>
                </a:rPr>
                <a:t>IndoorApp </a:t>
              </a:r>
              <a:r>
                <a:rPr lang="en-US" sz="2000" u="none">
                  <a:solidFill>
                    <a:srgbClr val="FFFFFF"/>
                  </a:solidFill>
                  <a:latin typeface="Codec Pro"/>
                  <a:ea typeface="Codec Pro"/>
                  <a:cs typeface="Codec Pro"/>
                  <a:sym typeface="Codec Pro"/>
                </a:rPr>
                <a:t>requires full system downtime for every update, making deployments slow, risky, and highly error-prone.</a:t>
              </a:r>
            </a:p>
          </p:txBody>
        </p:sp>
      </p:grpSp>
      <p:grpSp>
        <p:nvGrpSpPr>
          <p:cNvPr name="Group 13" id="13"/>
          <p:cNvGrpSpPr/>
          <p:nvPr/>
        </p:nvGrpSpPr>
        <p:grpSpPr>
          <a:xfrm rot="0">
            <a:off x="12111682" y="4016123"/>
            <a:ext cx="5147618" cy="5283909"/>
            <a:chOff x="0" y="0"/>
            <a:chExt cx="6863491" cy="7045212"/>
          </a:xfrm>
        </p:grpSpPr>
        <p:sp>
          <p:nvSpPr>
            <p:cNvPr name="AutoShape 14" id="14"/>
            <p:cNvSpPr/>
            <p:nvPr/>
          </p:nvSpPr>
          <p:spPr>
            <a:xfrm rot="0">
              <a:off x="0" y="0"/>
              <a:ext cx="6863491" cy="7045212"/>
            </a:xfrm>
            <a:prstGeom prst="rect">
              <a:avLst/>
            </a:prstGeom>
            <a:solidFill>
              <a:srgbClr val="D6EAD6"/>
            </a:solidFill>
          </p:spPr>
        </p:sp>
        <p:sp>
          <p:nvSpPr>
            <p:cNvPr name="TextBox 15" id="15"/>
            <p:cNvSpPr txBox="true"/>
            <p:nvPr/>
          </p:nvSpPr>
          <p:spPr>
            <a:xfrm rot="0">
              <a:off x="807463" y="2183876"/>
              <a:ext cx="5248566" cy="1165225"/>
            </a:xfrm>
            <a:prstGeom prst="rect">
              <a:avLst/>
            </a:prstGeom>
          </p:spPr>
          <p:txBody>
            <a:bodyPr anchor="t" rtlCol="false" tIns="0" lIns="0" bIns="0" rIns="0">
              <a:spAutoFit/>
            </a:bodyPr>
            <a:lstStyle/>
            <a:p>
              <a:pPr algn="l" marL="0" indent="0" lvl="0">
                <a:lnSpc>
                  <a:spcPts val="3360"/>
                </a:lnSpc>
                <a:spcBef>
                  <a:spcPct val="0"/>
                </a:spcBef>
              </a:pPr>
              <a:r>
                <a:rPr lang="en-US" b="true" sz="2800">
                  <a:solidFill>
                    <a:srgbClr val="000000"/>
                  </a:solidFill>
                  <a:latin typeface="Codec Pro Bold"/>
                  <a:ea typeface="Codec Pro Bold"/>
                  <a:cs typeface="Codec Pro Bold"/>
                  <a:sym typeface="Codec Pro Bold"/>
                </a:rPr>
                <a:t>Inability to Scale During High Usage</a:t>
              </a:r>
            </a:p>
          </p:txBody>
        </p:sp>
        <p:sp>
          <p:nvSpPr>
            <p:cNvPr name="TextBox 16" id="16"/>
            <p:cNvSpPr txBox="true"/>
            <p:nvPr/>
          </p:nvSpPr>
          <p:spPr>
            <a:xfrm rot="0">
              <a:off x="807463" y="952231"/>
              <a:ext cx="5248566" cy="917476"/>
            </a:xfrm>
            <a:prstGeom prst="rect">
              <a:avLst/>
            </a:prstGeom>
          </p:spPr>
          <p:txBody>
            <a:bodyPr anchor="t" rtlCol="false" tIns="0" lIns="0" bIns="0" rIns="0">
              <a:spAutoFit/>
            </a:bodyPr>
            <a:lstStyle/>
            <a:p>
              <a:pPr algn="l" marL="0" indent="0" lvl="0">
                <a:lnSpc>
                  <a:spcPts val="5040"/>
                </a:lnSpc>
                <a:spcBef>
                  <a:spcPct val="0"/>
                </a:spcBef>
              </a:pPr>
              <a:r>
                <a:rPr lang="en-US" sz="4200" u="none">
                  <a:solidFill>
                    <a:srgbClr val="000000"/>
                  </a:solidFill>
                  <a:latin typeface="Codec Pro"/>
                  <a:ea typeface="Codec Pro"/>
                  <a:cs typeface="Codec Pro"/>
                  <a:sym typeface="Codec Pro"/>
                </a:rPr>
                <a:t>03</a:t>
              </a:r>
            </a:p>
          </p:txBody>
        </p:sp>
        <p:sp>
          <p:nvSpPr>
            <p:cNvPr name="TextBox 17" id="17"/>
            <p:cNvSpPr txBox="true"/>
            <p:nvPr/>
          </p:nvSpPr>
          <p:spPr>
            <a:xfrm rot="0">
              <a:off x="807463" y="3947186"/>
              <a:ext cx="5248566" cy="23674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000000"/>
                  </a:solidFill>
                  <a:latin typeface="Codec Pro"/>
                  <a:ea typeface="Codec Pro"/>
                  <a:cs typeface="Codec Pro"/>
                  <a:sym typeface="Codec Pro"/>
                </a:rPr>
                <a:t>Th</a:t>
              </a:r>
              <a:r>
                <a:rPr lang="en-US" sz="2000" u="none">
                  <a:solidFill>
                    <a:srgbClr val="000000"/>
                  </a:solidFill>
                  <a:latin typeface="Codec Pro"/>
                  <a:ea typeface="Codec Pro"/>
                  <a:cs typeface="Codec Pro"/>
                  <a:sym typeface="Codec Pro"/>
                </a:rPr>
                <a:t>e current on-prem infrastructure cannot handle spikes in user traffic, leading to slow response times and booking failures.</a:t>
              </a:r>
            </a:p>
          </p:txBody>
        </p:sp>
      </p:grpSp>
      <p:sp>
        <p:nvSpPr>
          <p:cNvPr name="TextBox 18" id="18"/>
          <p:cNvSpPr txBox="true"/>
          <p:nvPr/>
        </p:nvSpPr>
        <p:spPr>
          <a:xfrm rot="0">
            <a:off x="1028700" y="9350319"/>
            <a:ext cx="4248507" cy="355600"/>
          </a:xfrm>
          <a:prstGeom prst="rect">
            <a:avLst/>
          </a:prstGeom>
        </p:spPr>
        <p:txBody>
          <a:bodyPr anchor="t" rtlCol="false" tIns="0" lIns="0" bIns="0" rIns="0">
            <a:spAutoFit/>
          </a:bodyPr>
          <a:lstStyle/>
          <a:p>
            <a:pPr algn="l">
              <a:lnSpc>
                <a:spcPts val="2599"/>
              </a:lnSpc>
            </a:pPr>
            <a:r>
              <a:rPr lang="en-US" sz="1999" u="sng">
                <a:solidFill>
                  <a:srgbClr val="000000"/>
                </a:solidFill>
                <a:latin typeface="Codec Pro"/>
                <a:ea typeface="Codec Pro"/>
                <a:cs typeface="Codec Pro"/>
                <a:sym typeface="Codec Pro"/>
                <a:hlinkClick r:id="rId2" action="ppaction://hlinksldjump"/>
              </a:rPr>
              <a:t>Back to Agenda</a:t>
            </a:r>
          </a:p>
        </p:txBody>
      </p:sp>
      <p:sp>
        <p:nvSpPr>
          <p:cNvPr name="TextBox 19" id="19"/>
          <p:cNvSpPr txBox="true"/>
          <p:nvPr/>
        </p:nvSpPr>
        <p:spPr>
          <a:xfrm rot="0">
            <a:off x="17112109" y="9318569"/>
            <a:ext cx="152400" cy="238125"/>
          </a:xfrm>
          <a:prstGeom prst="rect">
            <a:avLst/>
          </a:prstGeom>
        </p:spPr>
        <p:txBody>
          <a:bodyPr anchor="t" rtlCol="false" tIns="0" lIns="0" bIns="0" rIns="0" wrap="none">
            <a:spAutoFit/>
          </a:bodyPr>
          <a:lstStyle/>
          <a:p>
            <a:pPr algn="r">
              <a:lnSpc>
                <a:spcPts val="2800"/>
              </a:lnSpc>
              <a:spcBef>
                <a:spcPct val="0"/>
              </a:spcBef>
            </a:pPr>
            <a:r>
              <a:rPr lang="en-US" sz="2000">
                <a:solidFill>
                  <a:srgbClr val="000000"/>
                </a:solidFill>
                <a:latin typeface="Codec Pro"/>
                <a:ea typeface="Codec Pro"/>
                <a:cs typeface="Codec Pro"/>
                <a:sym typeface="Codec Pro"/>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0" y="0"/>
            <a:ext cx="6738822" cy="10287000"/>
          </a:xfrm>
          <a:prstGeom prst="rect">
            <a:avLst/>
          </a:prstGeom>
          <a:solidFill>
            <a:srgbClr val="7C987C"/>
          </a:solidFill>
        </p:spPr>
      </p:sp>
      <p:sp>
        <p:nvSpPr>
          <p:cNvPr name="TextBox 3" id="3"/>
          <p:cNvSpPr txBox="true"/>
          <p:nvPr/>
        </p:nvSpPr>
        <p:spPr>
          <a:xfrm rot="0">
            <a:off x="1028700" y="933450"/>
            <a:ext cx="5059131" cy="2952750"/>
          </a:xfrm>
          <a:prstGeom prst="rect">
            <a:avLst/>
          </a:prstGeom>
        </p:spPr>
        <p:txBody>
          <a:bodyPr anchor="t" rtlCol="false" tIns="0" lIns="0" bIns="0" rIns="0">
            <a:spAutoFit/>
          </a:bodyPr>
          <a:lstStyle/>
          <a:p>
            <a:pPr algn="l">
              <a:lnSpc>
                <a:spcPts val="7559"/>
              </a:lnSpc>
            </a:pPr>
            <a:r>
              <a:rPr lang="en-US" sz="6300">
                <a:solidFill>
                  <a:srgbClr val="FFFFFF"/>
                </a:solidFill>
                <a:latin typeface="Codec Pro"/>
                <a:ea typeface="Codec Pro"/>
                <a:cs typeface="Codec Pro"/>
                <a:sym typeface="Codec Pro"/>
              </a:rPr>
              <a:t>Resource </a:t>
            </a:r>
          </a:p>
          <a:p>
            <a:pPr algn="l">
              <a:lnSpc>
                <a:spcPts val="7559"/>
              </a:lnSpc>
            </a:pPr>
            <a:r>
              <a:rPr lang="en-US" sz="6300">
                <a:solidFill>
                  <a:srgbClr val="FFFFFF"/>
                </a:solidFill>
                <a:latin typeface="Codec Pro"/>
                <a:ea typeface="Codec Pro"/>
                <a:cs typeface="Codec Pro"/>
                <a:sym typeface="Codec Pro"/>
              </a:rPr>
              <a:t>BUSINESS IMPACT</a:t>
            </a:r>
          </a:p>
        </p:txBody>
      </p:sp>
      <p:sp>
        <p:nvSpPr>
          <p:cNvPr name="TextBox 4" id="4"/>
          <p:cNvSpPr txBox="true"/>
          <p:nvPr/>
        </p:nvSpPr>
        <p:spPr>
          <a:xfrm rot="0">
            <a:off x="7161617" y="1614226"/>
            <a:ext cx="10500426" cy="6709409"/>
          </a:xfrm>
          <a:prstGeom prst="rect">
            <a:avLst/>
          </a:prstGeom>
        </p:spPr>
        <p:txBody>
          <a:bodyPr anchor="t" rtlCol="false" tIns="0" lIns="0" bIns="0" rIns="0">
            <a:spAutoFit/>
          </a:bodyPr>
          <a:lstStyle/>
          <a:p>
            <a:pPr algn="l">
              <a:lnSpc>
                <a:spcPts val="2940"/>
              </a:lnSpc>
              <a:spcBef>
                <a:spcPct val="0"/>
              </a:spcBef>
            </a:pPr>
            <a:r>
              <a:rPr lang="en-US" sz="2100">
                <a:solidFill>
                  <a:srgbClr val="000000"/>
                </a:solidFill>
                <a:latin typeface="Codec Pro"/>
                <a:ea typeface="Codec Pro"/>
                <a:cs typeface="Codec Pro"/>
                <a:sym typeface="Codec Pro"/>
              </a:rPr>
              <a:t>IndoorApp’s performance issues and </a:t>
            </a:r>
            <a:r>
              <a:rPr lang="en-US" sz="2100">
                <a:solidFill>
                  <a:srgbClr val="000000"/>
                </a:solidFill>
                <a:latin typeface="Codec Pro"/>
                <a:ea typeface="Codec Pro"/>
                <a:cs typeface="Codec Pro"/>
                <a:sym typeface="Codec Pro"/>
              </a:rPr>
              <a:t>outages created operational disruptions across NovaSphere. Employees were unable to book rooms or mark attendance on time, causing delays in meetings and daily planning. IT teams had to repeatedly fix incidents, increasing workload and reducing focus on strategic tasks. The lack of scalability and slow deployments directly impacted productivity, user satisfaction, and efficient management of workplace resources.</a:t>
            </a:r>
          </a:p>
          <a:p>
            <a:pPr algn="l">
              <a:lnSpc>
                <a:spcPts val="2940"/>
              </a:lnSpc>
              <a:spcBef>
                <a:spcPct val="0"/>
              </a:spcBef>
            </a:pPr>
          </a:p>
          <a:p>
            <a:pPr algn="l">
              <a:lnSpc>
                <a:spcPts val="2940"/>
              </a:lnSpc>
              <a:spcBef>
                <a:spcPct val="0"/>
              </a:spcBef>
            </a:pPr>
            <a:r>
              <a:rPr lang="en-US" b="true" sz="2100">
                <a:solidFill>
                  <a:srgbClr val="000000"/>
                </a:solidFill>
                <a:latin typeface="Codec Pro Bold"/>
                <a:ea typeface="Codec Pro Bold"/>
                <a:cs typeface="Codec Pro Bold"/>
                <a:sym typeface="Codec Pro Bold"/>
              </a:rPr>
              <a:t>ROOT CAUSE ANALYSIS </a:t>
            </a:r>
          </a:p>
          <a:p>
            <a:pPr algn="l" marL="453395" indent="-226697" lvl="1">
              <a:lnSpc>
                <a:spcPts val="2940"/>
              </a:lnSpc>
              <a:spcBef>
                <a:spcPct val="0"/>
              </a:spcBef>
              <a:buFont typeface="Arial"/>
              <a:buChar char="•"/>
            </a:pPr>
            <a:r>
              <a:rPr lang="en-US" sz="2100">
                <a:solidFill>
                  <a:srgbClr val="000000"/>
                </a:solidFill>
                <a:latin typeface="Codec Pro"/>
                <a:ea typeface="Codec Pro"/>
                <a:cs typeface="Codec Pro"/>
                <a:sym typeface="Codec Pro"/>
              </a:rPr>
              <a:t>IndoorApp is built as a tightly coupled monolithic application, making updates slow and risky.</a:t>
            </a:r>
          </a:p>
          <a:p>
            <a:pPr algn="l" marL="453395" indent="-226697" lvl="1">
              <a:lnSpc>
                <a:spcPts val="2940"/>
              </a:lnSpc>
              <a:spcBef>
                <a:spcPct val="0"/>
              </a:spcBef>
              <a:buFont typeface="Arial"/>
              <a:buChar char="•"/>
            </a:pPr>
            <a:r>
              <a:rPr lang="en-US" sz="2100">
                <a:solidFill>
                  <a:srgbClr val="000000"/>
                </a:solidFill>
                <a:latin typeface="Codec Pro"/>
                <a:ea typeface="Codec Pro"/>
                <a:cs typeface="Codec Pro"/>
                <a:sym typeface="Codec Pro"/>
              </a:rPr>
              <a:t>Hosted on aging on-prem servers with limited CPU, memory, and storage capacity.</a:t>
            </a:r>
          </a:p>
          <a:p>
            <a:pPr algn="l" marL="453395" indent="-226697" lvl="1">
              <a:lnSpc>
                <a:spcPts val="2940"/>
              </a:lnSpc>
              <a:spcBef>
                <a:spcPct val="0"/>
              </a:spcBef>
              <a:buFont typeface="Arial"/>
              <a:buChar char="•"/>
            </a:pPr>
            <a:r>
              <a:rPr lang="en-US" sz="2100">
                <a:solidFill>
                  <a:srgbClr val="000000"/>
                </a:solidFill>
                <a:latin typeface="Codec Pro"/>
                <a:ea typeface="Codec Pro"/>
                <a:cs typeface="Codec Pro"/>
                <a:sym typeface="Codec Pro"/>
              </a:rPr>
              <a:t>No modularity, causing the entire app to fail when one module faces load issues.</a:t>
            </a:r>
          </a:p>
          <a:p>
            <a:pPr algn="l" marL="453395" indent="-226697" lvl="1">
              <a:lnSpc>
                <a:spcPts val="2940"/>
              </a:lnSpc>
              <a:spcBef>
                <a:spcPct val="0"/>
              </a:spcBef>
              <a:buFont typeface="Arial"/>
              <a:buChar char="•"/>
            </a:pPr>
            <a:r>
              <a:rPr lang="en-US" sz="2100">
                <a:solidFill>
                  <a:srgbClr val="000000"/>
                </a:solidFill>
                <a:latin typeface="Codec Pro"/>
                <a:ea typeface="Codec Pro"/>
                <a:cs typeface="Codec Pro"/>
                <a:sym typeface="Codec Pro"/>
              </a:rPr>
              <a:t>Manual deployments with no CI/CD pipeline, increasing error frequency.</a:t>
            </a:r>
          </a:p>
          <a:p>
            <a:pPr algn="l" marL="453395" indent="-226697" lvl="1">
              <a:lnSpc>
                <a:spcPts val="2940"/>
              </a:lnSpc>
              <a:spcBef>
                <a:spcPct val="0"/>
              </a:spcBef>
              <a:buFont typeface="Arial"/>
              <a:buChar char="•"/>
            </a:pPr>
            <a:r>
              <a:rPr lang="en-US" sz="2100">
                <a:solidFill>
                  <a:srgbClr val="000000"/>
                </a:solidFill>
                <a:latin typeface="Codec Pro"/>
                <a:ea typeface="Codec Pro"/>
                <a:cs typeface="Codec Pro"/>
                <a:sym typeface="Codec Pro"/>
              </a:rPr>
              <a:t>No scalable architecture, leading to performance drops during peak hours.</a:t>
            </a:r>
          </a:p>
          <a:p>
            <a:pPr algn="l" marL="453395" indent="-226697" lvl="1">
              <a:lnSpc>
                <a:spcPts val="2940"/>
              </a:lnSpc>
              <a:spcBef>
                <a:spcPct val="0"/>
              </a:spcBef>
              <a:buFont typeface="Arial"/>
              <a:buChar char="•"/>
            </a:pPr>
            <a:r>
              <a:rPr lang="en-US" sz="2100">
                <a:solidFill>
                  <a:srgbClr val="000000"/>
                </a:solidFill>
                <a:latin typeface="Codec Pro"/>
                <a:ea typeface="Codec Pro"/>
                <a:cs typeface="Codec Pro"/>
                <a:sym typeface="Codec Pro"/>
              </a:rPr>
              <a:t>Minimal DR (Disaster Recovery) or failover strategy, causing prolonged outages.</a:t>
            </a:r>
          </a:p>
          <a:p>
            <a:pPr algn="l">
              <a:lnSpc>
                <a:spcPts val="294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C987C"/>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190363"/>
          <a:ext cx="16230600" cy="7794165"/>
        </p:xfrm>
        <a:graphic>
          <a:graphicData uri="http://schemas.openxmlformats.org/drawingml/2006/table">
            <a:tbl>
              <a:tblPr/>
              <a:tblGrid>
                <a:gridCol w="3962352"/>
                <a:gridCol w="3962352"/>
                <a:gridCol w="3962352"/>
                <a:gridCol w="4343544"/>
              </a:tblGrid>
              <a:tr h="1924055">
                <a:tc>
                  <a:txBody>
                    <a:bodyPr anchor="t" rtlCol="false"/>
                    <a:lstStyle/>
                    <a:p>
                      <a:pPr algn="ctr">
                        <a:lnSpc>
                          <a:spcPts val="5599"/>
                        </a:lnSpc>
                        <a:defRPr/>
                      </a:pPr>
                      <a:r>
                        <a:rPr lang="en-US" sz="3999" b="true">
                          <a:solidFill>
                            <a:srgbClr val="FFFFFF"/>
                          </a:solidFill>
                          <a:latin typeface="Codec Pro Bold"/>
                          <a:ea typeface="Codec Pro Bold"/>
                          <a:cs typeface="Codec Pro Bold"/>
                          <a:sym typeface="Codec Pro Bold"/>
                        </a:rPr>
                        <a:t>S</a:t>
                      </a:r>
                      <a:endParaRPr lang="en-US" sz="1100"/>
                    </a:p>
                    <a:p>
                      <a:pPr algn="ctr">
                        <a:lnSpc>
                          <a:spcPts val="4200"/>
                        </a:lnSpc>
                      </a:pPr>
                      <a:r>
                        <a:rPr lang="en-US" sz="3000">
                          <a:solidFill>
                            <a:srgbClr val="FFFFFF"/>
                          </a:solidFill>
                          <a:latin typeface="Codec Pro"/>
                          <a:ea typeface="Codec Pro"/>
                          <a:cs typeface="Codec Pro"/>
                          <a:sym typeface="Codec Pro"/>
                        </a:rPr>
                        <a:t>(Strengths)</a:t>
                      </a:r>
                    </a:p>
                  </a:txBody>
                  <a:tcPr marL="190500" marR="190500" marT="190500" marB="190500" anchor="ctr">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365236"/>
                    </a:solidFill>
                  </a:tcPr>
                </a:tc>
                <a:tc>
                  <a:txBody>
                    <a:bodyPr anchor="t" rtlCol="false"/>
                    <a:lstStyle/>
                    <a:p>
                      <a:pPr algn="ctr">
                        <a:lnSpc>
                          <a:spcPts val="5599"/>
                        </a:lnSpc>
                        <a:defRPr/>
                      </a:pPr>
                      <a:r>
                        <a:rPr lang="en-US" sz="3999" b="true">
                          <a:solidFill>
                            <a:srgbClr val="FFFFFF"/>
                          </a:solidFill>
                          <a:latin typeface="Codec Pro Bold"/>
                          <a:ea typeface="Codec Pro Bold"/>
                          <a:cs typeface="Codec Pro Bold"/>
                          <a:sym typeface="Codec Pro Bold"/>
                        </a:rPr>
                        <a:t>W</a:t>
                      </a:r>
                      <a:endParaRPr lang="en-US" sz="1100"/>
                    </a:p>
                    <a:p>
                      <a:pPr algn="ctr">
                        <a:lnSpc>
                          <a:spcPts val="4200"/>
                        </a:lnSpc>
                      </a:pPr>
                      <a:r>
                        <a:rPr lang="en-US" sz="3000">
                          <a:solidFill>
                            <a:srgbClr val="FFFFFF"/>
                          </a:solidFill>
                          <a:latin typeface="Codec Pro"/>
                          <a:ea typeface="Codec Pro"/>
                          <a:cs typeface="Codec Pro"/>
                          <a:sym typeface="Codec Pro"/>
                        </a:rPr>
                        <a:t>(Weaknesses)</a:t>
                      </a:r>
                    </a:p>
                  </a:txBody>
                  <a:tcPr marL="190500" marR="190500" marT="190500" marB="190500" anchor="ctr">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365236"/>
                    </a:solidFill>
                  </a:tcPr>
                </a:tc>
                <a:tc>
                  <a:txBody>
                    <a:bodyPr anchor="t" rtlCol="false"/>
                    <a:lstStyle/>
                    <a:p>
                      <a:pPr algn="ctr">
                        <a:lnSpc>
                          <a:spcPts val="5599"/>
                        </a:lnSpc>
                        <a:defRPr/>
                      </a:pPr>
                      <a:r>
                        <a:rPr lang="en-US" sz="3999" b="true">
                          <a:solidFill>
                            <a:srgbClr val="FFFFFF"/>
                          </a:solidFill>
                          <a:latin typeface="Codec Pro Bold"/>
                          <a:ea typeface="Codec Pro Bold"/>
                          <a:cs typeface="Codec Pro Bold"/>
                          <a:sym typeface="Codec Pro Bold"/>
                        </a:rPr>
                        <a:t>O</a:t>
                      </a:r>
                      <a:endParaRPr lang="en-US" sz="1100"/>
                    </a:p>
                    <a:p>
                      <a:pPr algn="ctr">
                        <a:lnSpc>
                          <a:spcPts val="4200"/>
                        </a:lnSpc>
                      </a:pPr>
                      <a:r>
                        <a:rPr lang="en-US" sz="3000">
                          <a:solidFill>
                            <a:srgbClr val="FFFFFF"/>
                          </a:solidFill>
                          <a:latin typeface="Codec Pro"/>
                          <a:ea typeface="Codec Pro"/>
                          <a:cs typeface="Codec Pro"/>
                          <a:sym typeface="Codec Pro"/>
                        </a:rPr>
                        <a:t>(Opportunities)</a:t>
                      </a:r>
                    </a:p>
                  </a:txBody>
                  <a:tcPr marL="190500" marR="190500" marT="190500" marB="190500" anchor="ctr">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365236"/>
                    </a:solidFill>
                  </a:tcPr>
                </a:tc>
                <a:tc>
                  <a:txBody>
                    <a:bodyPr anchor="t" rtlCol="false"/>
                    <a:lstStyle/>
                    <a:p>
                      <a:pPr algn="ctr">
                        <a:lnSpc>
                          <a:spcPts val="5599"/>
                        </a:lnSpc>
                        <a:defRPr/>
                      </a:pPr>
                      <a:r>
                        <a:rPr lang="en-US" sz="3999" b="true">
                          <a:solidFill>
                            <a:srgbClr val="FFFFFF"/>
                          </a:solidFill>
                          <a:latin typeface="Codec Pro Bold"/>
                          <a:ea typeface="Codec Pro Bold"/>
                          <a:cs typeface="Codec Pro Bold"/>
                          <a:sym typeface="Codec Pro Bold"/>
                        </a:rPr>
                        <a:t>T</a:t>
                      </a:r>
                      <a:endParaRPr lang="en-US" sz="1100"/>
                    </a:p>
                    <a:p>
                      <a:pPr algn="ctr">
                        <a:lnSpc>
                          <a:spcPts val="4200"/>
                        </a:lnSpc>
                      </a:pPr>
                      <a:r>
                        <a:rPr lang="en-US" sz="3000">
                          <a:solidFill>
                            <a:srgbClr val="FFFFFF"/>
                          </a:solidFill>
                          <a:latin typeface="Codec Pro"/>
                          <a:ea typeface="Codec Pro"/>
                          <a:cs typeface="Codec Pro"/>
                          <a:sym typeface="Codec Pro"/>
                        </a:rPr>
                        <a:t>(Threats)</a:t>
                      </a:r>
                    </a:p>
                  </a:txBody>
                  <a:tcPr marL="190500" marR="190500" marT="190500" marB="190500" anchor="ctr">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365236"/>
                    </a:solidFill>
                  </a:tcPr>
                </a:tc>
              </a:tr>
              <a:tr h="5870110">
                <a:tc>
                  <a:txBody>
                    <a:bodyPr anchor="t" rtlCol="false"/>
                    <a:lstStyle/>
                    <a:p>
                      <a:pPr algn="l">
                        <a:lnSpc>
                          <a:spcPts val="2800"/>
                        </a:lnSpc>
                        <a:defRPr/>
                      </a:pPr>
                      <a:endParaRPr lang="en-US" sz="1100"/>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In</a:t>
                      </a:r>
                      <a:r>
                        <a:rPr lang="en-US" sz="2000">
                          <a:solidFill>
                            <a:srgbClr val="000000"/>
                          </a:solidFill>
                          <a:latin typeface="Codec Pro"/>
                          <a:ea typeface="Codec Pro"/>
                          <a:cs typeface="Codec Pro"/>
                          <a:sym typeface="Codec Pro"/>
                        </a:rPr>
                        <a:t>doorApp is widely used daily across NovaSphere</a:t>
                      </a:r>
                    </a:p>
                    <a:p>
                      <a:pPr algn="l">
                        <a:lnSpc>
                          <a:spcPts val="2800"/>
                        </a:lnSpc>
                      </a:pPr>
                      <a:r>
                        <a:rPr lang="en-US" sz="2000">
                          <a:solidFill>
                            <a:srgbClr val="000000"/>
                          </a:solidFill>
                          <a:latin typeface="Codec Pro"/>
                          <a:ea typeface="Codec Pro"/>
                          <a:cs typeface="Codec Pro"/>
                          <a:sym typeface="Codec Pro"/>
                        </a:rPr>
                        <a:t>.</a:t>
                      </a: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Core workflows (booking, attendance) are well-defined and stable.</a:t>
                      </a:r>
                    </a:p>
                    <a:p>
                      <a:pPr algn="l">
                        <a:lnSpc>
                          <a:spcPts val="2800"/>
                        </a:lnSpc>
                      </a:pP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Internal teams understand the app, reducing adoption friction.</a:t>
                      </a:r>
                    </a:p>
                  </a:txBody>
                  <a:tcPr marL="190500" marR="190500" marT="190500" marB="190500" anchor="t">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FFFFFF"/>
                    </a:solidFill>
                  </a:tcPr>
                </a:tc>
                <a:tc>
                  <a:txBody>
                    <a:bodyPr anchor="t" rtlCol="false"/>
                    <a:lstStyle/>
                    <a:p>
                      <a:pPr algn="l">
                        <a:lnSpc>
                          <a:spcPts val="2800"/>
                        </a:lnSpc>
                        <a:defRPr/>
                      </a:pPr>
                      <a:endParaRPr lang="en-US" sz="1100"/>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Legacy on-prem monolithic system causes outages and delays</a:t>
                      </a:r>
                    </a:p>
                    <a:p>
                      <a:pPr algn="l">
                        <a:lnSpc>
                          <a:spcPts val="2800"/>
                        </a:lnSpc>
                      </a:pPr>
                      <a:r>
                        <a:rPr lang="en-US" sz="2000">
                          <a:solidFill>
                            <a:srgbClr val="000000"/>
                          </a:solidFill>
                          <a:latin typeface="Codec Pro"/>
                          <a:ea typeface="Codec Pro"/>
                          <a:cs typeface="Codec Pro"/>
                          <a:sym typeface="Codec Pro"/>
                        </a:rPr>
                        <a:t>.</a:t>
                      </a: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No modularity, making small updates risky and slow.</a:t>
                      </a:r>
                    </a:p>
                    <a:p>
                      <a:pPr algn="l">
                        <a:lnSpc>
                          <a:spcPts val="2800"/>
                        </a:lnSpc>
                      </a:pP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Lacks modern tools like CI/CD, auto-scaling, and DR.</a:t>
                      </a:r>
                    </a:p>
                    <a:p>
                      <a:pPr algn="l">
                        <a:lnSpc>
                          <a:spcPts val="2800"/>
                        </a:lnSpc>
                      </a:pPr>
                    </a:p>
                  </a:txBody>
                  <a:tcPr marL="190500" marR="190500" marT="190500" marB="190500" anchor="t">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FFFFFF"/>
                    </a:solidFill>
                  </a:tcPr>
                </a:tc>
                <a:tc>
                  <a:txBody>
                    <a:bodyPr anchor="t" rtlCol="false"/>
                    <a:lstStyle/>
                    <a:p>
                      <a:pPr algn="l">
                        <a:lnSpc>
                          <a:spcPts val="2800"/>
                        </a:lnSpc>
                        <a:defRPr/>
                      </a:pPr>
                      <a:endParaRPr lang="en-US" sz="1100"/>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Cloud migration enables higher reliability and faster deployments.</a:t>
                      </a:r>
                    </a:p>
                    <a:p>
                      <a:pPr algn="l">
                        <a:lnSpc>
                          <a:spcPts val="2800"/>
                        </a:lnSpc>
                      </a:pP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Mic</a:t>
                      </a:r>
                      <a:r>
                        <a:rPr lang="en-US" sz="2000">
                          <a:solidFill>
                            <a:srgbClr val="000000"/>
                          </a:solidFill>
                          <a:latin typeface="Codec Pro"/>
                          <a:ea typeface="Codec Pro"/>
                          <a:cs typeface="Codec Pro"/>
                          <a:sym typeface="Codec Pro"/>
                        </a:rPr>
                        <a:t>roservices allow independent scaling of each module.</a:t>
                      </a:r>
                    </a:p>
                    <a:p>
                      <a:pPr algn="l">
                        <a:lnSpc>
                          <a:spcPts val="2800"/>
                        </a:lnSpc>
                      </a:pP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Scope to introduce automation, monitoring, and cost optimization.</a:t>
                      </a:r>
                    </a:p>
                  </a:txBody>
                  <a:tcPr marL="190500" marR="190500" marT="190500" marB="190500" anchor="t">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FFFFFF"/>
                    </a:solidFill>
                  </a:tcPr>
                </a:tc>
                <a:tc>
                  <a:txBody>
                    <a:bodyPr anchor="t" rtlCol="false"/>
                    <a:lstStyle/>
                    <a:p>
                      <a:pPr algn="l">
                        <a:lnSpc>
                          <a:spcPts val="2800"/>
                        </a:lnSpc>
                        <a:defRPr/>
                      </a:pPr>
                      <a:endParaRPr lang="en-US" sz="1100"/>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Ongoing outages impact employee productivity and planning.</a:t>
                      </a:r>
                    </a:p>
                    <a:p>
                      <a:pPr algn="l">
                        <a:lnSpc>
                          <a:spcPts val="2800"/>
                        </a:lnSpc>
                      </a:pP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Technical debt increases maintenance cost and failure risk.</a:t>
                      </a:r>
                    </a:p>
                    <a:p>
                      <a:pPr algn="l">
                        <a:lnSpc>
                          <a:spcPts val="2800"/>
                        </a:lnSpc>
                      </a:pPr>
                    </a:p>
                    <a:p>
                      <a:pPr algn="l" marL="431802" indent="-215901" lvl="1">
                        <a:lnSpc>
                          <a:spcPts val="2800"/>
                        </a:lnSpc>
                        <a:buFont typeface="Arial"/>
                        <a:buChar char="•"/>
                      </a:pPr>
                      <a:r>
                        <a:rPr lang="en-US" sz="2000">
                          <a:solidFill>
                            <a:srgbClr val="000000"/>
                          </a:solidFill>
                          <a:latin typeface="Codec Pro"/>
                          <a:ea typeface="Codec Pro"/>
                          <a:cs typeface="Codec Pro"/>
                          <a:sym typeface="Codec Pro"/>
                        </a:rPr>
                        <a:t>Peak-hour failures reduce trust in internal IT systems.</a:t>
                      </a:r>
                    </a:p>
                  </a:txBody>
                  <a:tcPr marL="190500" marR="190500" marT="190500" marB="190500" anchor="t">
                    <a:lnL cmpd="sng" algn="ctr" cap="flat" w="28575">
                      <a:solidFill>
                        <a:srgbClr val="7C987C"/>
                      </a:solidFill>
                      <a:prstDash val="solid"/>
                      <a:round/>
                      <a:headEnd type="none" w="med" len="med"/>
                      <a:tailEnd type="none" w="med" len="med"/>
                    </a:lnL>
                    <a:lnR cmpd="sng" algn="ctr" cap="flat" w="28575">
                      <a:solidFill>
                        <a:srgbClr val="7C987C"/>
                      </a:solidFill>
                      <a:prstDash val="solid"/>
                      <a:round/>
                      <a:headEnd type="none" w="med" len="med"/>
                      <a:tailEnd type="none" w="med" len="med"/>
                    </a:lnR>
                    <a:lnT cmpd="sng" algn="ctr" cap="flat" w="28575">
                      <a:solidFill>
                        <a:srgbClr val="7C987C"/>
                      </a:solidFill>
                      <a:prstDash val="solid"/>
                      <a:round/>
                      <a:headEnd type="none" w="med" len="med"/>
                      <a:tailEnd type="none" w="med" len="med"/>
                    </a:lnT>
                    <a:lnB cmpd="sng" algn="ctr" cap="flat" w="28575">
                      <a:solidFill>
                        <a:srgbClr val="7C987C"/>
                      </a:solidFill>
                      <a:prstDash val="solid"/>
                      <a:round/>
                      <a:headEnd type="none" w="med" len="med"/>
                      <a:tailEnd type="none" w="med" len="med"/>
                    </a:lnB>
                    <a:solidFill>
                      <a:srgbClr val="FFFFFF"/>
                    </a:solidFill>
                  </a:tcPr>
                </a:tc>
              </a:tr>
            </a:tbl>
          </a:graphicData>
        </a:graphic>
      </p:graphicFrame>
      <p:sp>
        <p:nvSpPr>
          <p:cNvPr name="TextBox 3" id="3"/>
          <p:cNvSpPr txBox="true"/>
          <p:nvPr/>
        </p:nvSpPr>
        <p:spPr>
          <a:xfrm rot="0">
            <a:off x="1028700" y="9201150"/>
            <a:ext cx="4248507" cy="355600"/>
          </a:xfrm>
          <a:prstGeom prst="rect">
            <a:avLst/>
          </a:prstGeom>
        </p:spPr>
        <p:txBody>
          <a:bodyPr anchor="t" rtlCol="false" tIns="0" lIns="0" bIns="0" rIns="0">
            <a:spAutoFit/>
          </a:bodyPr>
          <a:lstStyle/>
          <a:p>
            <a:pPr algn="l">
              <a:lnSpc>
                <a:spcPts val="2599"/>
              </a:lnSpc>
            </a:pPr>
            <a:r>
              <a:rPr lang="en-US" sz="1999" u="sng">
                <a:solidFill>
                  <a:srgbClr val="FFFFFF"/>
                </a:solidFill>
                <a:latin typeface="Codec Pro"/>
                <a:ea typeface="Codec Pro"/>
                <a:cs typeface="Codec Pro"/>
                <a:sym typeface="Codec Pro"/>
                <a:hlinkClick r:id="rId2" action="ppaction://hlinksldjump"/>
              </a:rPr>
              <a:t>Back to Agenda</a:t>
            </a:r>
          </a:p>
        </p:txBody>
      </p:sp>
      <p:sp>
        <p:nvSpPr>
          <p:cNvPr name="TextBox 4" id="4"/>
          <p:cNvSpPr txBox="true"/>
          <p:nvPr/>
        </p:nvSpPr>
        <p:spPr>
          <a:xfrm rot="0">
            <a:off x="17119774" y="9169344"/>
            <a:ext cx="152400" cy="238125"/>
          </a:xfrm>
          <a:prstGeom prst="rect">
            <a:avLst/>
          </a:prstGeom>
        </p:spPr>
        <p:txBody>
          <a:bodyPr anchor="t" rtlCol="false" tIns="0" lIns="0" bIns="0" rIns="0" wrap="none">
            <a:spAutoFit/>
          </a:bodyPr>
          <a:lstStyle/>
          <a:p>
            <a:pPr algn="r">
              <a:lnSpc>
                <a:spcPts val="2800"/>
              </a:lnSpc>
              <a:spcBef>
                <a:spcPct val="0"/>
              </a:spcBef>
            </a:pPr>
            <a:r>
              <a:rPr lang="en-US" sz="2000">
                <a:solidFill>
                  <a:srgbClr val="FFFFFF"/>
                </a:solidFill>
                <a:latin typeface="Codec Pro"/>
                <a:ea typeface="Codec Pro"/>
                <a:cs typeface="Codec Pro"/>
                <a:sym typeface="Codec Pro"/>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C987C"/>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755593" y="1314155"/>
          <a:ext cx="16776814" cy="8366832"/>
        </p:xfrm>
        <a:graphic>
          <a:graphicData uri="http://schemas.openxmlformats.org/drawingml/2006/table">
            <a:tbl>
              <a:tblPr/>
              <a:tblGrid>
                <a:gridCol w="7487292"/>
                <a:gridCol w="2824008"/>
                <a:gridCol w="2872692"/>
                <a:gridCol w="3592822"/>
              </a:tblGrid>
              <a:tr h="1004007">
                <a:tc>
                  <a:txBody>
                    <a:bodyPr anchor="t" rtlCol="false"/>
                    <a:lstStyle/>
                    <a:p>
                      <a:pPr algn="ctr">
                        <a:lnSpc>
                          <a:spcPts val="2800"/>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D6EAD6"/>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D6EAD6"/>
                      </a:solidFill>
                      <a:prstDash val="solid"/>
                      <a:round/>
                      <a:headEnd type="none" w="med" len="med"/>
                      <a:tailEnd type="none" w="med" len="med"/>
                    </a:lnB>
                  </a:tcPr>
                </a:tc>
                <a:tc>
                  <a:txBody>
                    <a:bodyPr anchor="t" rtlCol="false"/>
                    <a:lstStyle/>
                    <a:p>
                      <a:pPr algn="ctr">
                        <a:lnSpc>
                          <a:spcPts val="2800"/>
                        </a:lnSpc>
                        <a:defRPr/>
                      </a:pPr>
                      <a:r>
                        <a:rPr lang="en-US" sz="2000">
                          <a:solidFill>
                            <a:srgbClr val="FFFFFF"/>
                          </a:solidFill>
                          <a:latin typeface="Roboto"/>
                          <a:ea typeface="Roboto"/>
                          <a:cs typeface="Roboto"/>
                          <a:sym typeface="Roboto"/>
                        </a:rPr>
                        <a:t>Feasibility</a:t>
                      </a:r>
                      <a:endParaRPr lang="en-US" sz="1100"/>
                    </a:p>
                  </a:txBody>
                  <a:tcPr marL="190500" marR="190500" marT="190500" marB="190500" anchor="ctr">
                    <a:lnL cmpd="sng" algn="ctr" cap="flat" w="0">
                      <a:solidFill>
                        <a:srgbClr val="D6EAD6"/>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365236"/>
                    </a:solidFill>
                  </a:tcPr>
                </a:tc>
                <a:tc>
                  <a:txBody>
                    <a:bodyPr anchor="t" rtlCol="false"/>
                    <a:lstStyle/>
                    <a:p>
                      <a:pPr algn="ctr">
                        <a:lnSpc>
                          <a:spcPts val="2800"/>
                        </a:lnSpc>
                        <a:defRPr/>
                      </a:pPr>
                      <a:r>
                        <a:rPr lang="en-US" sz="2000">
                          <a:solidFill>
                            <a:srgbClr val="FFFFFF"/>
                          </a:solidFill>
                          <a:latin typeface="Roboto"/>
                          <a:ea typeface="Roboto"/>
                          <a:cs typeface="Roboto"/>
                          <a:sym typeface="Roboto"/>
                        </a:rPr>
                        <a:t>Cost Efficiency</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365236"/>
                    </a:solidFill>
                  </a:tcPr>
                </a:tc>
                <a:tc>
                  <a:txBody>
                    <a:bodyPr anchor="t" rtlCol="false"/>
                    <a:lstStyle/>
                    <a:p>
                      <a:pPr algn="ctr">
                        <a:lnSpc>
                          <a:spcPts val="2800"/>
                        </a:lnSpc>
                        <a:defRPr/>
                      </a:pPr>
                      <a:r>
                        <a:rPr lang="en-US" sz="2000">
                          <a:solidFill>
                            <a:srgbClr val="FFFFFF"/>
                          </a:solidFill>
                          <a:latin typeface="Roboto"/>
                          <a:ea typeface="Roboto"/>
                          <a:cs typeface="Roboto"/>
                          <a:sym typeface="Roboto"/>
                        </a:rPr>
                        <a:t>Improvement in Reliability</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365236"/>
                    </a:solidFill>
                  </a:tcPr>
                </a:tc>
              </a:tr>
              <a:tr h="1952625">
                <a:tc>
                  <a:txBody>
                    <a:bodyPr anchor="t" rtlCol="false"/>
                    <a:lstStyle/>
                    <a:p>
                      <a:pPr algn="ctr">
                        <a:lnSpc>
                          <a:spcPts val="2800"/>
                        </a:lnSpc>
                        <a:defRPr/>
                      </a:pPr>
                      <a:r>
                        <a:rPr lang="en-US" sz="2000">
                          <a:solidFill>
                            <a:srgbClr val="FFFFFF"/>
                          </a:solidFill>
                          <a:latin typeface="Roboto"/>
                          <a:ea typeface="Roboto"/>
                          <a:cs typeface="Roboto"/>
                          <a:sym typeface="Roboto"/>
                        </a:rPr>
                        <a:t>Migrate IndoorApp to a cloud-ready containerized microservices architecture</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D6EAD6"/>
                      </a:solidFill>
                      <a:prstDash val="solid"/>
                      <a:round/>
                      <a:headEnd type="none" w="med" len="med"/>
                      <a:tailEnd type="none" w="med" len="med"/>
                    </a:lnT>
                    <a:lnB cmpd="sng" algn="ctr" cap="flat" w="9525">
                      <a:solidFill>
                        <a:srgbClr val="D6EAD6"/>
                      </a:solidFill>
                      <a:prstDash val="solid"/>
                      <a:round/>
                      <a:headEnd type="none" w="med" len="med"/>
                      <a:tailEnd type="none" w="med" len="med"/>
                    </a:lnB>
                    <a:solidFill>
                      <a:srgbClr val="365236"/>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High — uses Docker + simulated AWS/Azure (no billing)</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High — free tools, no cloud spend</a:t>
                      </a:r>
                      <a:endParaRPr lang="en-US" sz="1100"/>
                    </a:p>
                  </a:txBody>
                  <a:tcPr marL="190500" marR="190500" marT="190500" marB="190500" anchor="ctr">
                    <a:lnL cmpd="sng" algn="ctr" cap="flat" w="19050">
                      <a:solidFill>
                        <a:srgbClr val="7C987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High — microservices reduce outages and improve stability</a:t>
                      </a:r>
                      <a:endParaRPr lang="en-US" sz="1100"/>
                    </a:p>
                  </a:txBody>
                  <a:tcPr marL="190500" marR="190500" marT="190500" marB="190500" anchor="ctr">
                    <a:lnL cmpd="sng" algn="ctr" cap="flat" w="19050">
                      <a:solidFill>
                        <a:srgbClr val="7C987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r>
              <a:tr h="1899357">
                <a:tc>
                  <a:txBody>
                    <a:bodyPr anchor="t" rtlCol="false"/>
                    <a:lstStyle/>
                    <a:p>
                      <a:pPr algn="ctr">
                        <a:lnSpc>
                          <a:spcPts val="2800"/>
                        </a:lnSpc>
                        <a:defRPr/>
                      </a:pPr>
                      <a:r>
                        <a:rPr lang="en-US" sz="2000">
                          <a:solidFill>
                            <a:srgbClr val="FFFFFF"/>
                          </a:solidFill>
                          <a:latin typeface="Roboto"/>
                          <a:ea typeface="Roboto"/>
                          <a:cs typeface="Roboto"/>
                          <a:sym typeface="Roboto"/>
                        </a:rPr>
                        <a:t>Implement CI/CD pipeline with automated testing and blue–green deployment</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9525">
                      <a:solidFill>
                        <a:srgbClr val="D6EAD6"/>
                      </a:solidFill>
                      <a:prstDash val="solid"/>
                      <a:round/>
                      <a:headEnd type="none" w="med" len="med"/>
                      <a:tailEnd type="none" w="med" len="med"/>
                    </a:lnT>
                    <a:lnB cmpd="sng" algn="ctr" cap="flat" w="9525">
                      <a:solidFill>
                        <a:srgbClr val="D6EAD6"/>
                      </a:solidFill>
                      <a:prstDash val="solid"/>
                      <a:round/>
                      <a:headEnd type="none" w="med" len="med"/>
                      <a:tailEnd type="none" w="med" len="med"/>
                    </a:lnB>
                    <a:solidFill>
                      <a:srgbClr val="365236"/>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Medium — requires clear workflows but achievable</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High — GitHub Actions free tier</a:t>
                      </a:r>
                      <a:endParaRPr lang="en-US" sz="1100"/>
                    </a:p>
                  </a:txBody>
                  <a:tcPr marL="190500" marR="190500" marT="190500" marB="190500" anchor="ctr">
                    <a:lnL cmpd="sng" algn="ctr" cap="flat" w="19050">
                      <a:solidFill>
                        <a:srgbClr val="7C987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Very High — zero-downtime releases and safer rollbacks</a:t>
                      </a:r>
                      <a:endParaRPr lang="en-US" sz="1100"/>
                    </a:p>
                  </a:txBody>
                  <a:tcPr marL="190500" marR="190500" marT="190500" marB="190500" anchor="ctr">
                    <a:lnL cmpd="sng" algn="ctr" cap="flat" w="19050">
                      <a:solidFill>
                        <a:srgbClr val="7C987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r>
              <a:tr h="1910643">
                <a:tc>
                  <a:txBody>
                    <a:bodyPr anchor="t" rtlCol="false"/>
                    <a:lstStyle/>
                    <a:p>
                      <a:pPr algn="ctr">
                        <a:lnSpc>
                          <a:spcPts val="2800"/>
                        </a:lnSpc>
                        <a:defRPr/>
                      </a:pPr>
                      <a:r>
                        <a:rPr lang="en-US" sz="2000">
                          <a:solidFill>
                            <a:srgbClr val="FFFFFF"/>
                          </a:solidFill>
                          <a:latin typeface="Roboto"/>
                          <a:ea typeface="Roboto"/>
                          <a:cs typeface="Roboto"/>
                          <a:sym typeface="Roboto"/>
                        </a:rPr>
                        <a:t> Introduce monitoring, logging, and disaster recovery simulation</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9525">
                      <a:solidFill>
                        <a:srgbClr val="D6EAD6"/>
                      </a:solidFill>
                      <a:prstDash val="solid"/>
                      <a:round/>
                      <a:headEnd type="none" w="med" len="med"/>
                      <a:tailEnd type="none" w="med" len="med"/>
                    </a:lnT>
                    <a:lnB cmpd="sng" algn="ctr" cap="flat" w="9525">
                      <a:solidFill>
                        <a:srgbClr val="D6EAD6"/>
                      </a:solidFill>
                      <a:prstDash val="solid"/>
                      <a:round/>
                      <a:headEnd type="none" w="med" len="med"/>
                      <a:tailEnd type="none" w="med" len="med"/>
                    </a:lnB>
                    <a:solidFill>
                      <a:srgbClr val="365236"/>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High — monitoring can be simulated locally</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 Medium — minimal resources needed</a:t>
                      </a:r>
                      <a:endParaRPr lang="en-US" sz="1100"/>
                    </a:p>
                  </a:txBody>
                  <a:tcPr marL="190500" marR="190500" marT="190500" marB="190500" anchor="ctr">
                    <a:lnL cmpd="sng" algn="ctr" cap="flat" w="19050">
                      <a:solidFill>
                        <a:srgbClr val="7C987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High — faster incident detection and recovery</a:t>
                      </a:r>
                      <a:endParaRPr lang="en-US" sz="1100"/>
                    </a:p>
                    <a:p>
                      <a:pPr algn="ctr">
                        <a:lnSpc>
                          <a:spcPts val="2800"/>
                        </a:lnSpc>
                      </a:pPr>
                    </a:p>
                  </a:txBody>
                  <a:tcPr marL="190500" marR="190500" marT="190500" marB="190500" anchor="ctr">
                    <a:lnL cmpd="sng" algn="ctr" cap="flat" w="19050">
                      <a:solidFill>
                        <a:srgbClr val="7C987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19050">
                      <a:solidFill>
                        <a:srgbClr val="7C987C"/>
                      </a:solidFill>
                      <a:prstDash val="solid"/>
                      <a:round/>
                      <a:headEnd type="none" w="med" len="med"/>
                      <a:tailEnd type="none" w="med" len="med"/>
                    </a:lnB>
                    <a:solidFill>
                      <a:srgbClr val="FFFFFF"/>
                    </a:solidFill>
                  </a:tcPr>
                </a:tc>
              </a:tr>
              <a:tr h="1600200">
                <a:tc>
                  <a:txBody>
                    <a:bodyPr anchor="t" rtlCol="false"/>
                    <a:lstStyle/>
                    <a:p>
                      <a:pPr algn="ctr">
                        <a:lnSpc>
                          <a:spcPts val="2800"/>
                        </a:lnSpc>
                        <a:defRPr/>
                      </a:pPr>
                      <a:r>
                        <a:rPr lang="en-US" sz="2000">
                          <a:solidFill>
                            <a:srgbClr val="FFFFFF"/>
                          </a:solidFill>
                          <a:latin typeface="Roboto"/>
                          <a:ea typeface="Roboto"/>
                          <a:cs typeface="Roboto"/>
                          <a:sym typeface="Roboto"/>
                        </a:rPr>
                        <a:t>Break down monolithic modules into independent services for performance scaling</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9525">
                      <a:solidFill>
                        <a:srgbClr val="D6EAD6"/>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365236"/>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Medium — architecture redesign required</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Medium — initial time investment</a:t>
                      </a:r>
                      <a:endParaRPr lang="en-US" sz="1100"/>
                    </a:p>
                  </a:txBody>
                  <a:tcPr marL="190500" marR="190500" marT="190500" marB="190500" anchor="ctr">
                    <a:lnL cmpd="sng" algn="ctr" cap="flat" w="19050">
                      <a:solidFill>
                        <a:srgbClr val="7C987C"/>
                      </a:solidFill>
                      <a:prstDash val="solid"/>
                      <a:round/>
                      <a:headEnd type="none" w="med" len="med"/>
                      <a:tailEnd type="none" w="med" len="med"/>
                    </a:lnL>
                    <a:lnR cmpd="sng" algn="ctr" cap="flat" w="19050">
                      <a:solidFill>
                        <a:srgbClr val="7C987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Codec Pro"/>
                          <a:ea typeface="Codec Pro"/>
                          <a:cs typeface="Codec Pro"/>
                          <a:sym typeface="Codec Pro"/>
                        </a:rPr>
                        <a:t>Very High — isolates failures and supports peak-hour scaling</a:t>
                      </a:r>
                      <a:endParaRPr lang="en-US" sz="1100"/>
                    </a:p>
                  </a:txBody>
                  <a:tcPr marL="190500" marR="190500" marT="190500" marB="190500" anchor="ctr">
                    <a:lnL cmpd="sng" algn="ctr" cap="flat" w="19050">
                      <a:solidFill>
                        <a:srgbClr val="7C987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7C987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bl>
          </a:graphicData>
        </a:graphic>
      </p:graphicFrame>
      <p:sp>
        <p:nvSpPr>
          <p:cNvPr name="TextBox 3" id="3"/>
          <p:cNvSpPr txBox="true"/>
          <p:nvPr/>
        </p:nvSpPr>
        <p:spPr>
          <a:xfrm rot="0">
            <a:off x="542539" y="238153"/>
            <a:ext cx="11226966" cy="1162050"/>
          </a:xfrm>
          <a:prstGeom prst="rect">
            <a:avLst/>
          </a:prstGeom>
        </p:spPr>
        <p:txBody>
          <a:bodyPr anchor="t" rtlCol="false" tIns="0" lIns="0" bIns="0" rIns="0">
            <a:spAutoFit/>
          </a:bodyPr>
          <a:lstStyle/>
          <a:p>
            <a:pPr algn="l">
              <a:lnSpc>
                <a:spcPts val="8399"/>
              </a:lnSpc>
            </a:pPr>
            <a:r>
              <a:rPr lang="en-US" sz="6999" b="true">
                <a:solidFill>
                  <a:srgbClr val="FFFFFF"/>
                </a:solidFill>
                <a:latin typeface="Codec Pro Bold"/>
                <a:ea typeface="Codec Pro Bold"/>
                <a:cs typeface="Codec Pro Bold"/>
                <a:sym typeface="Codec Pro Bold"/>
              </a:rPr>
              <a:t>Proposed Solutions</a:t>
            </a:r>
          </a:p>
        </p:txBody>
      </p:sp>
      <p:sp>
        <p:nvSpPr>
          <p:cNvPr name="TextBox 4" id="4"/>
          <p:cNvSpPr txBox="true"/>
          <p:nvPr/>
        </p:nvSpPr>
        <p:spPr>
          <a:xfrm rot="0">
            <a:off x="178147" y="9798050"/>
            <a:ext cx="1929705" cy="355600"/>
          </a:xfrm>
          <a:prstGeom prst="rect">
            <a:avLst/>
          </a:prstGeom>
        </p:spPr>
        <p:txBody>
          <a:bodyPr anchor="t" rtlCol="false" tIns="0" lIns="0" bIns="0" rIns="0">
            <a:spAutoFit/>
          </a:bodyPr>
          <a:lstStyle/>
          <a:p>
            <a:pPr algn="l">
              <a:lnSpc>
                <a:spcPts val="2599"/>
              </a:lnSpc>
            </a:pPr>
            <a:r>
              <a:rPr lang="en-US" sz="1999" u="sng">
                <a:solidFill>
                  <a:srgbClr val="FFFFFF"/>
                </a:solidFill>
                <a:latin typeface="Codec Pro"/>
                <a:ea typeface="Codec Pro"/>
                <a:cs typeface="Codec Pro"/>
                <a:sym typeface="Codec Pro"/>
                <a:hlinkClick r:id="rId2" action="ppaction://hlinksldjump"/>
              </a:rPr>
              <a:t>Back to Agenda</a:t>
            </a:r>
          </a:p>
        </p:txBody>
      </p:sp>
      <p:sp>
        <p:nvSpPr>
          <p:cNvPr name="TextBox 5" id="5"/>
          <p:cNvSpPr txBox="true"/>
          <p:nvPr/>
        </p:nvSpPr>
        <p:spPr>
          <a:xfrm rot="0">
            <a:off x="17041490" y="9169344"/>
            <a:ext cx="152400" cy="238125"/>
          </a:xfrm>
          <a:prstGeom prst="rect">
            <a:avLst/>
          </a:prstGeom>
        </p:spPr>
        <p:txBody>
          <a:bodyPr anchor="t" rtlCol="false" tIns="0" lIns="0" bIns="0" rIns="0" wrap="none">
            <a:spAutoFit/>
          </a:bodyPr>
          <a:lstStyle/>
          <a:p>
            <a:pPr algn="r">
              <a:lnSpc>
                <a:spcPts val="2800"/>
              </a:lnSpc>
              <a:spcBef>
                <a:spcPct val="0"/>
              </a:spcBef>
            </a:pPr>
            <a:r>
              <a:rPr lang="en-US" sz="2000">
                <a:solidFill>
                  <a:srgbClr val="FFFFFF"/>
                </a:solidFill>
                <a:latin typeface="Codec Pro"/>
                <a:ea typeface="Codec Pro"/>
                <a:cs typeface="Codec Pro"/>
                <a:sym typeface="Codec Pro"/>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7C987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205487"/>
            <a:chOff x="0" y="0"/>
            <a:chExt cx="4816593" cy="844243"/>
          </a:xfrm>
        </p:grpSpPr>
        <p:sp>
          <p:nvSpPr>
            <p:cNvPr name="Freeform 3" id="3"/>
            <p:cNvSpPr/>
            <p:nvPr/>
          </p:nvSpPr>
          <p:spPr>
            <a:xfrm flipH="false" flipV="false" rot="0">
              <a:off x="0" y="0"/>
              <a:ext cx="4816592" cy="844244"/>
            </a:xfrm>
            <a:custGeom>
              <a:avLst/>
              <a:gdLst/>
              <a:ahLst/>
              <a:cxnLst/>
              <a:rect r="r" b="b" t="t" l="l"/>
              <a:pathLst>
                <a:path h="844244" w="4816592">
                  <a:moveTo>
                    <a:pt x="0" y="0"/>
                  </a:moveTo>
                  <a:lnTo>
                    <a:pt x="4816592" y="0"/>
                  </a:lnTo>
                  <a:lnTo>
                    <a:pt x="4816592" y="844244"/>
                  </a:lnTo>
                  <a:lnTo>
                    <a:pt x="0" y="844244"/>
                  </a:lnTo>
                  <a:close/>
                </a:path>
              </a:pathLst>
            </a:custGeom>
            <a:solidFill>
              <a:srgbClr val="FFFFFF"/>
            </a:solidFill>
          </p:spPr>
        </p:sp>
        <p:sp>
          <p:nvSpPr>
            <p:cNvPr name="TextBox 4" id="4"/>
            <p:cNvSpPr txBox="true"/>
            <p:nvPr/>
          </p:nvSpPr>
          <p:spPr>
            <a:xfrm>
              <a:off x="0" y="-76200"/>
              <a:ext cx="4816593" cy="920443"/>
            </a:xfrm>
            <a:prstGeom prst="rect">
              <a:avLst/>
            </a:prstGeom>
          </p:spPr>
          <p:txBody>
            <a:bodyPr anchor="ctr" rtlCol="false" tIns="50800" lIns="50800" bIns="50800" rIns="50800"/>
            <a:lstStyle/>
            <a:p>
              <a:pPr algn="ctr">
                <a:lnSpc>
                  <a:spcPts val="2940"/>
                </a:lnSpc>
              </a:pPr>
            </a:p>
          </p:txBody>
        </p:sp>
      </p:grpSp>
      <p:graphicFrame>
        <p:nvGraphicFramePr>
          <p:cNvPr name="Table 5" id="5"/>
          <p:cNvGraphicFramePr>
            <a:graphicFrameLocks noGrp="true"/>
          </p:cNvGraphicFramePr>
          <p:nvPr/>
        </p:nvGraphicFramePr>
        <p:xfrm>
          <a:off x="754870" y="1907769"/>
          <a:ext cx="8161835" cy="7160945"/>
        </p:xfrm>
        <a:graphic>
          <a:graphicData uri="http://schemas.openxmlformats.org/drawingml/2006/table">
            <a:tbl>
              <a:tblPr/>
              <a:tblGrid>
                <a:gridCol w="5359254"/>
              </a:tblGrid>
              <a:tr h="1718032">
                <a:tc>
                  <a:txBody>
                    <a:bodyPr anchor="t" rtlCol="false"/>
                    <a:lstStyle/>
                    <a:p>
                      <a:pPr algn="ctr">
                        <a:lnSpc>
                          <a:spcPts val="3499"/>
                        </a:lnSpc>
                        <a:defRPr/>
                      </a:pPr>
                      <a:r>
                        <a:rPr lang="en-US" sz="2499" b="true">
                          <a:solidFill>
                            <a:srgbClr val="FFFFFF"/>
                          </a:solidFill>
                          <a:latin typeface="Codec Pro Bold"/>
                          <a:ea typeface="Codec Pro Bold"/>
                          <a:cs typeface="Codec Pro Bold"/>
                          <a:sym typeface="Codec Pro Bold"/>
                        </a:rPr>
                        <a:t>AS-IS Architecture </a:t>
                      </a:r>
                      <a:endParaRPr lang="en-US" sz="1100"/>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0">
                      <a:solidFill>
                        <a:srgbClr val="D9D9D9"/>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365236"/>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Runs on a single on-prem monolithic server (web, API, DB together)</a:t>
                      </a:r>
                      <a:endParaRPr lang="en-US" sz="1100"/>
                    </a:p>
                    <a:p>
                      <a:pPr algn="ctr">
                        <a:lnSpc>
                          <a:spcPts val="2520"/>
                        </a:lnSpc>
                      </a:pPr>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FFFFFF"/>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No scalability; performance drops during peak hours</a:t>
                      </a:r>
                      <a:endParaRPr lang="en-US" sz="1100"/>
                    </a:p>
                    <a:p>
                      <a:pPr algn="ctr">
                        <a:lnSpc>
                          <a:spcPts val="2520"/>
                        </a:lnSpc>
                      </a:pPr>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FFFFFF"/>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Manual deployments requiring downtime</a:t>
                      </a:r>
                      <a:endParaRPr lang="en-US" sz="1100"/>
                    </a:p>
                    <a:p>
                      <a:pPr algn="ctr">
                        <a:lnSpc>
                          <a:spcPts val="2520"/>
                        </a:lnSpc>
                      </a:pPr>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FFFFFF"/>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Singl</a:t>
                      </a:r>
                      <a:r>
                        <a:rPr lang="en-US" sz="1800">
                          <a:solidFill>
                            <a:srgbClr val="000000"/>
                          </a:solidFill>
                          <a:latin typeface="Codec Pro"/>
                          <a:ea typeface="Codec Pro"/>
                          <a:cs typeface="Codec Pro"/>
                          <a:sym typeface="Codec Pro"/>
                        </a:rPr>
                        <a:t>e point of failure, no DR or redundancy</a:t>
                      </a:r>
                      <a:endParaRPr lang="en-US" sz="1100"/>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0">
                      <a:solidFill>
                        <a:srgbClr val="D9D9D9"/>
                      </a:solidFill>
                      <a:prstDash val="solid"/>
                      <a:round/>
                      <a:headEnd type="none" w="med" len="med"/>
                      <a:tailEnd type="none" w="med" len="med"/>
                    </a:lnB>
                    <a:solidFill>
                      <a:srgbClr val="FFFFFF"/>
                    </a:solidFill>
                  </a:tcPr>
                </a:tc>
              </a:tr>
            </a:tbl>
          </a:graphicData>
        </a:graphic>
      </p:graphicFrame>
      <p:graphicFrame>
        <p:nvGraphicFramePr>
          <p:cNvPr name="Table 6" id="6"/>
          <p:cNvGraphicFramePr>
            <a:graphicFrameLocks noGrp="true"/>
          </p:cNvGraphicFramePr>
          <p:nvPr/>
        </p:nvGraphicFramePr>
        <p:xfrm>
          <a:off x="9144000" y="1907769"/>
          <a:ext cx="8546374" cy="7160945"/>
        </p:xfrm>
        <a:graphic>
          <a:graphicData uri="http://schemas.openxmlformats.org/drawingml/2006/table">
            <a:tbl>
              <a:tblPr/>
              <a:tblGrid>
                <a:gridCol w="5876145"/>
              </a:tblGrid>
              <a:tr h="1718032">
                <a:tc>
                  <a:txBody>
                    <a:bodyPr anchor="t" rtlCol="false"/>
                    <a:lstStyle/>
                    <a:p>
                      <a:pPr algn="ctr">
                        <a:lnSpc>
                          <a:spcPts val="3499"/>
                        </a:lnSpc>
                        <a:defRPr/>
                      </a:pPr>
                      <a:r>
                        <a:rPr lang="en-US" sz="2499" b="true">
                          <a:solidFill>
                            <a:srgbClr val="FFFFFF"/>
                          </a:solidFill>
                          <a:latin typeface="Codec Pro Bold"/>
                          <a:ea typeface="Codec Pro Bold"/>
                          <a:cs typeface="Codec Pro Bold"/>
                          <a:sym typeface="Codec Pro Bold"/>
                        </a:rPr>
                        <a:t>TO-BE</a:t>
                      </a:r>
                      <a:r>
                        <a:rPr lang="en-US" b="true" sz="2499">
                          <a:solidFill>
                            <a:srgbClr val="FFFFFF"/>
                          </a:solidFill>
                          <a:latin typeface="Codec Pro Bold"/>
                          <a:ea typeface="Codec Pro Bold"/>
                          <a:cs typeface="Codec Pro Bold"/>
                          <a:sym typeface="Codec Pro Bold"/>
                        </a:rPr>
                        <a:t> Architecture</a:t>
                      </a:r>
                      <a:endParaRPr lang="en-US" sz="1100"/>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0">
                      <a:solidFill>
                        <a:srgbClr val="D9D9D9"/>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365236"/>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Containerized microservices for web, API, and supporting modules</a:t>
                      </a:r>
                      <a:endParaRPr lang="en-US" sz="1100"/>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FFFFFF"/>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Uses simulated AWS/Azure services for storage and integrations</a:t>
                      </a:r>
                      <a:endParaRPr lang="en-US" sz="1100"/>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FFFFFF"/>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CI/CD + Blue-Green deployment for faster, safer releases</a:t>
                      </a:r>
                      <a:endParaRPr lang="en-US" sz="1100"/>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9525">
                      <a:solidFill>
                        <a:srgbClr val="365236"/>
                      </a:solidFill>
                      <a:prstDash val="solid"/>
                      <a:round/>
                      <a:headEnd type="none" w="med" len="med"/>
                      <a:tailEnd type="none" w="med" len="med"/>
                    </a:lnB>
                    <a:solidFill>
                      <a:srgbClr val="FFFFFF"/>
                    </a:solidFill>
                  </a:tcPr>
                </a:tc>
              </a:tr>
              <a:tr h="1360728">
                <a:tc>
                  <a:txBody>
                    <a:bodyPr anchor="t" rtlCol="false"/>
                    <a:lstStyle/>
                    <a:p>
                      <a:pPr algn="ctr">
                        <a:lnSpc>
                          <a:spcPts val="2520"/>
                        </a:lnSpc>
                        <a:defRPr/>
                      </a:pPr>
                      <a:r>
                        <a:rPr lang="en-US" sz="1800">
                          <a:solidFill>
                            <a:srgbClr val="000000"/>
                          </a:solidFill>
                          <a:latin typeface="Codec Pro"/>
                          <a:ea typeface="Codec Pro"/>
                          <a:cs typeface="Codec Pro"/>
                          <a:sym typeface="Codec Pro"/>
                        </a:rPr>
                        <a:t>Scalable, modular, and r</a:t>
                      </a:r>
                      <a:r>
                        <a:rPr lang="en-US" sz="1800">
                          <a:solidFill>
                            <a:srgbClr val="000000"/>
                          </a:solidFill>
                          <a:latin typeface="Codec Pro"/>
                          <a:ea typeface="Codec Pro"/>
                          <a:cs typeface="Codec Pro"/>
                          <a:sym typeface="Codec Pro"/>
                        </a:rPr>
                        <a:t>esilient with improved reliability and DR capability</a:t>
                      </a:r>
                      <a:endParaRPr lang="en-US" sz="1100"/>
                    </a:p>
                  </a:txBody>
                  <a:tcPr marL="143950" marR="143950" marT="143950" marB="143950" anchor="ctr">
                    <a:lnL cmpd="sng" algn="ctr" cap="flat" w="0">
                      <a:solidFill>
                        <a:srgbClr val="D9D9D9"/>
                      </a:solidFill>
                      <a:prstDash val="solid"/>
                      <a:round/>
                      <a:headEnd type="none" w="med" len="med"/>
                      <a:tailEnd type="none" w="med" len="med"/>
                    </a:lnL>
                    <a:lnR cmpd="sng" algn="ctr" cap="flat" w="0">
                      <a:solidFill>
                        <a:srgbClr val="D9D9D9"/>
                      </a:solidFill>
                      <a:prstDash val="solid"/>
                      <a:round/>
                      <a:headEnd type="none" w="med" len="med"/>
                      <a:tailEnd type="none" w="med" len="med"/>
                    </a:lnR>
                    <a:lnT cmpd="sng" algn="ctr" cap="flat" w="9525">
                      <a:solidFill>
                        <a:srgbClr val="365236"/>
                      </a:solidFill>
                      <a:prstDash val="solid"/>
                      <a:round/>
                      <a:headEnd type="none" w="med" len="med"/>
                      <a:tailEnd type="none" w="med" len="med"/>
                    </a:lnT>
                    <a:lnB cmpd="sng" algn="ctr" cap="flat" w="0">
                      <a:solidFill>
                        <a:srgbClr val="D9D9D9"/>
                      </a:solidFill>
                      <a:prstDash val="solid"/>
                      <a:round/>
                      <a:headEnd type="none" w="med" len="med"/>
                      <a:tailEnd type="none" w="med" len="med"/>
                    </a:lnB>
                    <a:solidFill>
                      <a:srgbClr val="FFFFFF"/>
                    </a:solidFill>
                  </a:tcPr>
                </a:tc>
              </a:tr>
            </a:tbl>
          </a:graphicData>
        </a:graphic>
      </p:graphicFrame>
      <p:sp>
        <p:nvSpPr>
          <p:cNvPr name="TextBox 7" id="7"/>
          <p:cNvSpPr txBox="true"/>
          <p:nvPr/>
        </p:nvSpPr>
        <p:spPr>
          <a:xfrm rot="0">
            <a:off x="1035754" y="544146"/>
            <a:ext cx="16216492" cy="1076325"/>
          </a:xfrm>
          <a:prstGeom prst="rect">
            <a:avLst/>
          </a:prstGeom>
        </p:spPr>
        <p:txBody>
          <a:bodyPr anchor="t" rtlCol="false" tIns="0" lIns="0" bIns="0" rIns="0">
            <a:spAutoFit/>
          </a:bodyPr>
          <a:lstStyle/>
          <a:p>
            <a:pPr algn="ctr">
              <a:lnSpc>
                <a:spcPts val="7679"/>
              </a:lnSpc>
            </a:pPr>
            <a:r>
              <a:rPr lang="en-US" b="true" sz="6399">
                <a:solidFill>
                  <a:srgbClr val="000000"/>
                </a:solidFill>
                <a:latin typeface="Codec Pro Bold"/>
                <a:ea typeface="Codec Pro Bold"/>
                <a:cs typeface="Codec Pro Bold"/>
                <a:sym typeface="Codec Pro Bold"/>
              </a:rPr>
              <a:t>Architecture</a:t>
            </a:r>
          </a:p>
        </p:txBody>
      </p:sp>
      <p:sp>
        <p:nvSpPr>
          <p:cNvPr name="TextBox 8" id="8"/>
          <p:cNvSpPr txBox="true"/>
          <p:nvPr/>
        </p:nvSpPr>
        <p:spPr>
          <a:xfrm rot="0">
            <a:off x="17016412" y="9169344"/>
            <a:ext cx="152400" cy="238125"/>
          </a:xfrm>
          <a:prstGeom prst="rect">
            <a:avLst/>
          </a:prstGeom>
        </p:spPr>
        <p:txBody>
          <a:bodyPr anchor="t" rtlCol="false" tIns="0" lIns="0" bIns="0" rIns="0" wrap="none">
            <a:spAutoFit/>
          </a:bodyPr>
          <a:lstStyle/>
          <a:p>
            <a:pPr algn="r">
              <a:lnSpc>
                <a:spcPts val="2800"/>
              </a:lnSpc>
              <a:spcBef>
                <a:spcPct val="0"/>
              </a:spcBef>
            </a:pPr>
            <a:r>
              <a:rPr lang="en-US" sz="2000">
                <a:solidFill>
                  <a:srgbClr val="FFFFFF"/>
                </a:solidFill>
                <a:latin typeface="Codec Pro"/>
                <a:ea typeface="Codec Pro"/>
                <a:cs typeface="Codec Pro"/>
                <a:sym typeface="Codec Pro"/>
              </a:rPr>
              <a:t>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365236"/>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3205487"/>
            <a:chOff x="0" y="0"/>
            <a:chExt cx="4816593" cy="844243"/>
          </a:xfrm>
        </p:grpSpPr>
        <p:sp>
          <p:nvSpPr>
            <p:cNvPr name="Freeform 3" id="3"/>
            <p:cNvSpPr/>
            <p:nvPr/>
          </p:nvSpPr>
          <p:spPr>
            <a:xfrm flipH="false" flipV="false" rot="0">
              <a:off x="0" y="0"/>
              <a:ext cx="4816592" cy="844244"/>
            </a:xfrm>
            <a:custGeom>
              <a:avLst/>
              <a:gdLst/>
              <a:ahLst/>
              <a:cxnLst/>
              <a:rect r="r" b="b" t="t" l="l"/>
              <a:pathLst>
                <a:path h="844244" w="4816592">
                  <a:moveTo>
                    <a:pt x="0" y="0"/>
                  </a:moveTo>
                  <a:lnTo>
                    <a:pt x="4816592" y="0"/>
                  </a:lnTo>
                  <a:lnTo>
                    <a:pt x="4816592" y="844244"/>
                  </a:lnTo>
                  <a:lnTo>
                    <a:pt x="0" y="844244"/>
                  </a:lnTo>
                  <a:close/>
                </a:path>
              </a:pathLst>
            </a:custGeom>
            <a:solidFill>
              <a:srgbClr val="FFFFFF"/>
            </a:solidFill>
          </p:spPr>
        </p:sp>
        <p:sp>
          <p:nvSpPr>
            <p:cNvPr name="TextBox 4" id="4"/>
            <p:cNvSpPr txBox="true"/>
            <p:nvPr/>
          </p:nvSpPr>
          <p:spPr>
            <a:xfrm>
              <a:off x="0" y="-76200"/>
              <a:ext cx="4816593" cy="92044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2071508" y="1652081"/>
            <a:ext cx="13005818" cy="1076325"/>
          </a:xfrm>
          <a:prstGeom prst="rect">
            <a:avLst/>
          </a:prstGeom>
        </p:spPr>
        <p:txBody>
          <a:bodyPr anchor="t" rtlCol="false" tIns="0" lIns="0" bIns="0" rIns="0">
            <a:spAutoFit/>
          </a:bodyPr>
          <a:lstStyle/>
          <a:p>
            <a:pPr algn="l">
              <a:lnSpc>
                <a:spcPts val="7679"/>
              </a:lnSpc>
            </a:pPr>
            <a:r>
              <a:rPr lang="en-US" sz="6399" b="true">
                <a:solidFill>
                  <a:srgbClr val="000000"/>
                </a:solidFill>
                <a:latin typeface="Codec Pro Bold"/>
                <a:ea typeface="Codec Pro Bold"/>
                <a:cs typeface="Codec Pro Bold"/>
                <a:sym typeface="Codec Pro Bold"/>
              </a:rPr>
              <a:t> Migration Strategy &amp; Approach</a:t>
            </a:r>
          </a:p>
        </p:txBody>
      </p:sp>
      <p:sp>
        <p:nvSpPr>
          <p:cNvPr name="TextBox 6" id="6"/>
          <p:cNvSpPr txBox="true"/>
          <p:nvPr/>
        </p:nvSpPr>
        <p:spPr>
          <a:xfrm rot="0">
            <a:off x="17016412" y="9169344"/>
            <a:ext cx="152400" cy="238125"/>
          </a:xfrm>
          <a:prstGeom prst="rect">
            <a:avLst/>
          </a:prstGeom>
        </p:spPr>
        <p:txBody>
          <a:bodyPr anchor="t" rtlCol="false" tIns="0" lIns="0" bIns="0" rIns="0" wrap="none">
            <a:spAutoFit/>
          </a:bodyPr>
          <a:lstStyle/>
          <a:p>
            <a:pPr algn="r">
              <a:lnSpc>
                <a:spcPts val="2800"/>
              </a:lnSpc>
              <a:spcBef>
                <a:spcPct val="0"/>
              </a:spcBef>
            </a:pPr>
            <a:r>
              <a:rPr lang="en-US" sz="2000">
                <a:solidFill>
                  <a:srgbClr val="FFFFFF"/>
                </a:solidFill>
                <a:latin typeface="Codec Pro"/>
                <a:ea typeface="Codec Pro"/>
                <a:cs typeface="Codec Pro"/>
                <a:sym typeface="Codec Pro"/>
              </a:rPr>
              <a:t>9</a:t>
            </a:r>
          </a:p>
        </p:txBody>
      </p:sp>
      <p:sp>
        <p:nvSpPr>
          <p:cNvPr name="TextBox 7" id="7"/>
          <p:cNvSpPr txBox="true"/>
          <p:nvPr/>
        </p:nvSpPr>
        <p:spPr>
          <a:xfrm rot="0">
            <a:off x="2131888" y="3905232"/>
            <a:ext cx="13433461" cy="5053965"/>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Codec Pro"/>
                <a:ea typeface="Codec Pro"/>
                <a:cs typeface="Codec Pro"/>
                <a:sym typeface="Codec Pro"/>
              </a:rPr>
              <a:t>The migrati</a:t>
            </a:r>
            <a:r>
              <a:rPr lang="en-US" sz="2399">
                <a:solidFill>
                  <a:srgbClr val="FFFFFF"/>
                </a:solidFill>
                <a:latin typeface="Codec Pro"/>
                <a:ea typeface="Codec Pro"/>
                <a:cs typeface="Codec Pro"/>
                <a:sym typeface="Codec Pro"/>
              </a:rPr>
              <a:t>on follows a hybrid delivery model where planning and architecture are baselined upfront and execution proceeds in iterative Scrum sprints. The strategy focuses on breaking the monolithic application into microservices, containerizing each component, and integrating them with simulated AWS and Azure services. Deployment follows a blue-green model to avoid downtime, supported by CI/CD automation, UAT cycles, and a final rollback-tested cutover.</a:t>
            </a:r>
          </a:p>
          <a:p>
            <a:pPr algn="l">
              <a:lnSpc>
                <a:spcPts val="3359"/>
              </a:lnSpc>
              <a:spcBef>
                <a:spcPct val="0"/>
              </a:spcBef>
            </a:pPr>
          </a:p>
          <a:p>
            <a:pPr algn="l" marL="518158" indent="-259079" lvl="1">
              <a:lnSpc>
                <a:spcPts val="3359"/>
              </a:lnSpc>
              <a:spcBef>
                <a:spcPct val="0"/>
              </a:spcBef>
              <a:buFont typeface="Arial"/>
              <a:buChar char="•"/>
            </a:pPr>
            <a:r>
              <a:rPr lang="en-US" sz="2399">
                <a:solidFill>
                  <a:srgbClr val="FFFFFF"/>
                </a:solidFill>
                <a:latin typeface="Codec Pro"/>
                <a:ea typeface="Codec Pro"/>
                <a:cs typeface="Codec Pro"/>
                <a:sym typeface="Codec Pro"/>
              </a:rPr>
              <a:t>Re-Architect</a:t>
            </a:r>
          </a:p>
          <a:p>
            <a:pPr algn="l" marL="518158" indent="-259079" lvl="1">
              <a:lnSpc>
                <a:spcPts val="3359"/>
              </a:lnSpc>
              <a:spcBef>
                <a:spcPct val="0"/>
              </a:spcBef>
              <a:buFont typeface="Arial"/>
              <a:buChar char="•"/>
            </a:pPr>
            <a:r>
              <a:rPr lang="en-US" sz="2399">
                <a:solidFill>
                  <a:srgbClr val="FFFFFF"/>
                </a:solidFill>
                <a:latin typeface="Codec Pro"/>
                <a:ea typeface="Codec Pro"/>
                <a:cs typeface="Codec Pro"/>
                <a:sym typeface="Codec Pro"/>
              </a:rPr>
              <a:t>Containerize</a:t>
            </a:r>
          </a:p>
          <a:p>
            <a:pPr algn="l" marL="518158" indent="-259079" lvl="1">
              <a:lnSpc>
                <a:spcPts val="3359"/>
              </a:lnSpc>
              <a:spcBef>
                <a:spcPct val="0"/>
              </a:spcBef>
              <a:buFont typeface="Arial"/>
              <a:buChar char="•"/>
            </a:pPr>
            <a:r>
              <a:rPr lang="en-US" sz="2399">
                <a:solidFill>
                  <a:srgbClr val="FFFFFF"/>
                </a:solidFill>
                <a:latin typeface="Codec Pro"/>
                <a:ea typeface="Codec Pro"/>
                <a:cs typeface="Codec Pro"/>
                <a:sym typeface="Codec Pro"/>
              </a:rPr>
              <a:t>Automate</a:t>
            </a:r>
          </a:p>
          <a:p>
            <a:pPr algn="l" marL="518158" indent="-259079" lvl="1">
              <a:lnSpc>
                <a:spcPts val="3359"/>
              </a:lnSpc>
              <a:spcBef>
                <a:spcPct val="0"/>
              </a:spcBef>
              <a:buFont typeface="Arial"/>
              <a:buChar char="•"/>
            </a:pPr>
            <a:r>
              <a:rPr lang="en-US" sz="2399">
                <a:solidFill>
                  <a:srgbClr val="FFFFFF"/>
                </a:solidFill>
                <a:latin typeface="Codec Pro"/>
                <a:ea typeface="Codec Pro"/>
                <a:cs typeface="Codec Pro"/>
                <a:sym typeface="Codec Pro"/>
              </a:rPr>
              <a:t>Cutover</a:t>
            </a:r>
          </a:p>
          <a:p>
            <a:pPr algn="l">
              <a:lnSpc>
                <a:spcPts val="335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0" y="0"/>
            <a:ext cx="8551397" cy="10287000"/>
          </a:xfrm>
          <a:prstGeom prst="rect">
            <a:avLst/>
          </a:prstGeom>
          <a:solidFill>
            <a:srgbClr val="365236"/>
          </a:solidFill>
        </p:spPr>
      </p:sp>
      <p:sp>
        <p:nvSpPr>
          <p:cNvPr name="TextBox 3" id="3"/>
          <p:cNvSpPr txBox="true"/>
          <p:nvPr/>
        </p:nvSpPr>
        <p:spPr>
          <a:xfrm rot="0">
            <a:off x="678204" y="1545794"/>
            <a:ext cx="6758191" cy="1076325"/>
          </a:xfrm>
          <a:prstGeom prst="rect">
            <a:avLst/>
          </a:prstGeom>
        </p:spPr>
        <p:txBody>
          <a:bodyPr anchor="t" rtlCol="false" tIns="0" lIns="0" bIns="0" rIns="0">
            <a:spAutoFit/>
          </a:bodyPr>
          <a:lstStyle/>
          <a:p>
            <a:pPr algn="l">
              <a:lnSpc>
                <a:spcPts val="7799"/>
              </a:lnSpc>
            </a:pPr>
            <a:r>
              <a:rPr lang="en-US" sz="6499" b="true">
                <a:solidFill>
                  <a:srgbClr val="FFFFFF"/>
                </a:solidFill>
                <a:latin typeface="Codec Pro Bold"/>
                <a:ea typeface="Codec Pro Bold"/>
                <a:cs typeface="Codec Pro Bold"/>
                <a:sym typeface="Codec Pro Bold"/>
              </a:rPr>
              <a:t>METHODOLOGY</a:t>
            </a:r>
          </a:p>
        </p:txBody>
      </p:sp>
      <p:grpSp>
        <p:nvGrpSpPr>
          <p:cNvPr name="Group 4" id="4"/>
          <p:cNvGrpSpPr/>
          <p:nvPr/>
        </p:nvGrpSpPr>
        <p:grpSpPr>
          <a:xfrm rot="0">
            <a:off x="9311697" y="1529817"/>
            <a:ext cx="6301974" cy="2001657"/>
            <a:chOff x="0" y="0"/>
            <a:chExt cx="8402631" cy="2668876"/>
          </a:xfrm>
        </p:grpSpPr>
        <p:sp>
          <p:nvSpPr>
            <p:cNvPr name="TextBox 5" id="5"/>
            <p:cNvSpPr txBox="true"/>
            <p:nvPr/>
          </p:nvSpPr>
          <p:spPr>
            <a:xfrm rot="0">
              <a:off x="0" y="-47625"/>
              <a:ext cx="8402631" cy="606425"/>
            </a:xfrm>
            <a:prstGeom prst="rect">
              <a:avLst/>
            </a:prstGeom>
          </p:spPr>
          <p:txBody>
            <a:bodyPr anchor="t" rtlCol="false" tIns="0" lIns="0" bIns="0" rIns="0">
              <a:spAutoFit/>
            </a:bodyPr>
            <a:lstStyle/>
            <a:p>
              <a:pPr algn="l" marL="0" indent="0" lvl="0">
                <a:lnSpc>
                  <a:spcPts val="3360"/>
                </a:lnSpc>
                <a:spcBef>
                  <a:spcPct val="0"/>
                </a:spcBef>
              </a:pPr>
              <a:r>
                <a:rPr lang="en-US" b="true" sz="2800">
                  <a:solidFill>
                    <a:srgbClr val="000000"/>
                  </a:solidFill>
                  <a:latin typeface="Codec Pro Bold"/>
                  <a:ea typeface="Codec Pro Bold"/>
                  <a:cs typeface="Codec Pro Bold"/>
                  <a:sym typeface="Codec Pro Bold"/>
                </a:rPr>
                <a:t>Waterfall (Planning Phase)</a:t>
              </a:r>
            </a:p>
          </p:txBody>
        </p:sp>
        <p:sp>
          <p:nvSpPr>
            <p:cNvPr name="TextBox 6" id="6"/>
            <p:cNvSpPr txBox="true"/>
            <p:nvPr/>
          </p:nvSpPr>
          <p:spPr>
            <a:xfrm rot="0">
              <a:off x="0" y="771285"/>
              <a:ext cx="8402631" cy="1897592"/>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00000"/>
                  </a:solidFill>
                  <a:latin typeface="Codec Pro"/>
                  <a:ea typeface="Codec Pro"/>
                  <a:cs typeface="Codec Pro"/>
                  <a:sym typeface="Codec Pro"/>
                </a:rPr>
                <a:t>Used for defining scope, architecture, timelines, and risks.</a:t>
              </a:r>
            </a:p>
            <a:p>
              <a:pPr algn="l" marL="431801" indent="-215900" lvl="1">
                <a:lnSpc>
                  <a:spcPts val="2800"/>
                </a:lnSpc>
                <a:buFont typeface="Arial"/>
                <a:buChar char="•"/>
              </a:pPr>
              <a:r>
                <a:rPr lang="en-US" sz="2000">
                  <a:solidFill>
                    <a:srgbClr val="000000"/>
                  </a:solidFill>
                  <a:latin typeface="Codec Pro"/>
                  <a:ea typeface="Codec Pro"/>
                  <a:cs typeface="Codec Pro"/>
                  <a:sym typeface="Codec Pro"/>
                </a:rPr>
                <a:t>Ensures clear baselines before development begins.</a:t>
              </a:r>
            </a:p>
          </p:txBody>
        </p:sp>
      </p:grpSp>
      <p:sp>
        <p:nvSpPr>
          <p:cNvPr name="TextBox 7" id="7"/>
          <p:cNvSpPr txBox="true"/>
          <p:nvPr/>
        </p:nvSpPr>
        <p:spPr>
          <a:xfrm rot="0">
            <a:off x="1028700" y="9197919"/>
            <a:ext cx="4248507" cy="355534"/>
          </a:xfrm>
          <a:prstGeom prst="rect">
            <a:avLst/>
          </a:prstGeom>
        </p:spPr>
        <p:txBody>
          <a:bodyPr anchor="t" rtlCol="false" tIns="0" lIns="0" bIns="0" rIns="0">
            <a:spAutoFit/>
          </a:bodyPr>
          <a:lstStyle/>
          <a:p>
            <a:pPr algn="l">
              <a:lnSpc>
                <a:spcPts val="2599"/>
              </a:lnSpc>
            </a:pPr>
            <a:r>
              <a:rPr lang="en-US" sz="1999" u="sng">
                <a:solidFill>
                  <a:srgbClr val="FFFFFF"/>
                </a:solidFill>
                <a:latin typeface="Codec Pro"/>
                <a:ea typeface="Codec Pro"/>
                <a:cs typeface="Codec Pro"/>
                <a:sym typeface="Codec Pro"/>
                <a:hlinkClick r:id="rId2" action="ppaction://hlinksldjump"/>
              </a:rPr>
              <a:t>Back to Agenda</a:t>
            </a:r>
          </a:p>
        </p:txBody>
      </p:sp>
      <p:sp>
        <p:nvSpPr>
          <p:cNvPr name="TextBox 8" id="8"/>
          <p:cNvSpPr txBox="true"/>
          <p:nvPr/>
        </p:nvSpPr>
        <p:spPr>
          <a:xfrm rot="0">
            <a:off x="17131308" y="9169344"/>
            <a:ext cx="152400" cy="238125"/>
          </a:xfrm>
          <a:prstGeom prst="rect">
            <a:avLst/>
          </a:prstGeom>
        </p:spPr>
        <p:txBody>
          <a:bodyPr anchor="t" rtlCol="false" tIns="0" lIns="0" bIns="0" rIns="0" wrap="none">
            <a:spAutoFit/>
          </a:bodyPr>
          <a:lstStyle/>
          <a:p>
            <a:pPr algn="r">
              <a:lnSpc>
                <a:spcPts val="2800"/>
              </a:lnSpc>
              <a:spcBef>
                <a:spcPct val="0"/>
              </a:spcBef>
            </a:pPr>
            <a:r>
              <a:rPr lang="en-US" sz="2000">
                <a:solidFill>
                  <a:srgbClr val="000000"/>
                </a:solidFill>
                <a:latin typeface="Codec Pro"/>
                <a:ea typeface="Codec Pro"/>
                <a:cs typeface="Codec Pro"/>
                <a:sym typeface="Codec Pro"/>
              </a:rPr>
              <a:t>10</a:t>
            </a:r>
          </a:p>
        </p:txBody>
      </p:sp>
      <p:sp>
        <p:nvSpPr>
          <p:cNvPr name="TextBox 9" id="9"/>
          <p:cNvSpPr txBox="true"/>
          <p:nvPr/>
        </p:nvSpPr>
        <p:spPr>
          <a:xfrm rot="0">
            <a:off x="678204" y="3262905"/>
            <a:ext cx="7194989" cy="2437130"/>
          </a:xfrm>
          <a:prstGeom prst="rect">
            <a:avLst/>
          </a:prstGeom>
        </p:spPr>
        <p:txBody>
          <a:bodyPr anchor="t" rtlCol="false" tIns="0" lIns="0" bIns="0" rIns="0">
            <a:spAutoFit/>
          </a:bodyPr>
          <a:lstStyle/>
          <a:p>
            <a:pPr algn="l">
              <a:lnSpc>
                <a:spcPts val="3219"/>
              </a:lnSpc>
            </a:pPr>
            <a:r>
              <a:rPr lang="en-US" sz="2299" b="true">
                <a:solidFill>
                  <a:srgbClr val="FFFFFF"/>
                </a:solidFill>
                <a:latin typeface="Codec Pro Bold"/>
                <a:ea typeface="Codec Pro Bold"/>
                <a:cs typeface="Codec Pro Bold"/>
                <a:sym typeface="Codec Pro Bold"/>
              </a:rPr>
              <a:t>Hybrid Delivery Model</a:t>
            </a:r>
          </a:p>
          <a:p>
            <a:pPr algn="l">
              <a:lnSpc>
                <a:spcPts val="3219"/>
              </a:lnSpc>
            </a:pPr>
          </a:p>
          <a:p>
            <a:pPr algn="l">
              <a:lnSpc>
                <a:spcPts val="3219"/>
              </a:lnSpc>
              <a:spcBef>
                <a:spcPct val="0"/>
              </a:spcBef>
            </a:pPr>
            <a:r>
              <a:rPr lang="en-US" sz="2299">
                <a:solidFill>
                  <a:srgbClr val="FFFFFF"/>
                </a:solidFill>
                <a:latin typeface="Codec Pro"/>
                <a:ea typeface="Codec Pro"/>
                <a:cs typeface="Codec Pro"/>
                <a:sym typeface="Codec Pro"/>
              </a:rPr>
              <a:t>A combination of Waterfall f</a:t>
            </a:r>
            <a:r>
              <a:rPr lang="en-US" sz="2299">
                <a:solidFill>
                  <a:srgbClr val="FFFFFF"/>
                </a:solidFill>
                <a:latin typeface="Codec Pro"/>
                <a:ea typeface="Codec Pro"/>
                <a:cs typeface="Codec Pro"/>
                <a:sym typeface="Codec Pro"/>
              </a:rPr>
              <a:t>or upfront planning and Scrum for iterative execution, supported by Kanban for operational visibility.</a:t>
            </a:r>
          </a:p>
          <a:p>
            <a:pPr algn="l">
              <a:lnSpc>
                <a:spcPts val="3219"/>
              </a:lnSpc>
              <a:spcBef>
                <a:spcPct val="0"/>
              </a:spcBef>
            </a:pPr>
          </a:p>
        </p:txBody>
      </p:sp>
      <p:grpSp>
        <p:nvGrpSpPr>
          <p:cNvPr name="Group 10" id="10"/>
          <p:cNvGrpSpPr/>
          <p:nvPr/>
        </p:nvGrpSpPr>
        <p:grpSpPr>
          <a:xfrm rot="0">
            <a:off x="9311697" y="3904546"/>
            <a:ext cx="6301974" cy="2354082"/>
            <a:chOff x="0" y="0"/>
            <a:chExt cx="8402631" cy="3138776"/>
          </a:xfrm>
        </p:grpSpPr>
        <p:sp>
          <p:nvSpPr>
            <p:cNvPr name="TextBox 11" id="11"/>
            <p:cNvSpPr txBox="true"/>
            <p:nvPr/>
          </p:nvSpPr>
          <p:spPr>
            <a:xfrm rot="0">
              <a:off x="0" y="-47625"/>
              <a:ext cx="8402631" cy="606425"/>
            </a:xfrm>
            <a:prstGeom prst="rect">
              <a:avLst/>
            </a:prstGeom>
          </p:spPr>
          <p:txBody>
            <a:bodyPr anchor="t" rtlCol="false" tIns="0" lIns="0" bIns="0" rIns="0">
              <a:spAutoFit/>
            </a:bodyPr>
            <a:lstStyle/>
            <a:p>
              <a:pPr algn="l" marL="0" indent="0" lvl="0">
                <a:lnSpc>
                  <a:spcPts val="3360"/>
                </a:lnSpc>
                <a:spcBef>
                  <a:spcPct val="0"/>
                </a:spcBef>
              </a:pPr>
              <a:r>
                <a:rPr lang="en-US" b="true" sz="2800">
                  <a:solidFill>
                    <a:srgbClr val="000000"/>
                  </a:solidFill>
                  <a:latin typeface="Codec Pro Bold"/>
                  <a:ea typeface="Codec Pro Bold"/>
                  <a:cs typeface="Codec Pro Bold"/>
                  <a:sym typeface="Codec Pro Bold"/>
                </a:rPr>
                <a:t>Scrum (Execution Phase)</a:t>
              </a:r>
            </a:p>
          </p:txBody>
        </p:sp>
        <p:sp>
          <p:nvSpPr>
            <p:cNvPr name="TextBox 12" id="12"/>
            <p:cNvSpPr txBox="true"/>
            <p:nvPr/>
          </p:nvSpPr>
          <p:spPr>
            <a:xfrm rot="0">
              <a:off x="0" y="771285"/>
              <a:ext cx="8402631" cy="2367492"/>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00000"/>
                  </a:solidFill>
                  <a:latin typeface="Codec Pro"/>
                  <a:ea typeface="Codec Pro"/>
                  <a:cs typeface="Codec Pro"/>
                  <a:sym typeface="Codec Pro"/>
                </a:rPr>
                <a:t>2–3 week sprint cycles for building and testing microservices.</a:t>
              </a:r>
            </a:p>
            <a:p>
              <a:pPr algn="l" marL="431801" indent="-215900" lvl="1">
                <a:lnSpc>
                  <a:spcPts val="2800"/>
                </a:lnSpc>
                <a:buFont typeface="Arial"/>
                <a:buChar char="•"/>
              </a:pPr>
              <a:r>
                <a:rPr lang="en-US" sz="2000">
                  <a:solidFill>
                    <a:srgbClr val="000000"/>
                  </a:solidFill>
                  <a:latin typeface="Codec Pro"/>
                  <a:ea typeface="Codec Pro"/>
                  <a:cs typeface="Codec Pro"/>
                  <a:sym typeface="Codec Pro"/>
                </a:rPr>
                <a:t>Daily stand-ups, sprint planning, review, and retrospective.</a:t>
              </a:r>
            </a:p>
            <a:p>
              <a:pPr algn="l" marL="431801" indent="-215900" lvl="1">
                <a:lnSpc>
                  <a:spcPts val="2800"/>
                </a:lnSpc>
                <a:buFont typeface="Arial"/>
                <a:buChar char="•"/>
              </a:pPr>
              <a:r>
                <a:rPr lang="en-US" sz="2000">
                  <a:solidFill>
                    <a:srgbClr val="000000"/>
                  </a:solidFill>
                  <a:latin typeface="Codec Pro"/>
                  <a:ea typeface="Codec Pro"/>
                  <a:cs typeface="Codec Pro"/>
                  <a:sym typeface="Codec Pro"/>
                </a:rPr>
                <a:t>Continuous integration through CI/CD pipeline.</a:t>
              </a:r>
            </a:p>
          </p:txBody>
        </p:sp>
      </p:grpSp>
      <p:grpSp>
        <p:nvGrpSpPr>
          <p:cNvPr name="Group 13" id="13"/>
          <p:cNvGrpSpPr/>
          <p:nvPr/>
        </p:nvGrpSpPr>
        <p:grpSpPr>
          <a:xfrm rot="0">
            <a:off x="9311697" y="6631701"/>
            <a:ext cx="6301974" cy="2354082"/>
            <a:chOff x="0" y="0"/>
            <a:chExt cx="8402631" cy="3138776"/>
          </a:xfrm>
        </p:grpSpPr>
        <p:sp>
          <p:nvSpPr>
            <p:cNvPr name="TextBox 14" id="14"/>
            <p:cNvSpPr txBox="true"/>
            <p:nvPr/>
          </p:nvSpPr>
          <p:spPr>
            <a:xfrm rot="0">
              <a:off x="0" y="-47625"/>
              <a:ext cx="8402631" cy="606425"/>
            </a:xfrm>
            <a:prstGeom prst="rect">
              <a:avLst/>
            </a:prstGeom>
          </p:spPr>
          <p:txBody>
            <a:bodyPr anchor="t" rtlCol="false" tIns="0" lIns="0" bIns="0" rIns="0">
              <a:spAutoFit/>
            </a:bodyPr>
            <a:lstStyle/>
            <a:p>
              <a:pPr algn="l" marL="0" indent="0" lvl="0">
                <a:lnSpc>
                  <a:spcPts val="3360"/>
                </a:lnSpc>
                <a:spcBef>
                  <a:spcPct val="0"/>
                </a:spcBef>
              </a:pPr>
              <a:r>
                <a:rPr lang="en-US" b="true" sz="2800">
                  <a:solidFill>
                    <a:srgbClr val="000000"/>
                  </a:solidFill>
                  <a:latin typeface="Codec Pro Bold"/>
                  <a:ea typeface="Codec Pro Bold"/>
                  <a:cs typeface="Codec Pro Bold"/>
                  <a:sym typeface="Codec Pro Bold"/>
                </a:rPr>
                <a:t>Kanban (Operational Workflow)</a:t>
              </a:r>
            </a:p>
          </p:txBody>
        </p:sp>
        <p:sp>
          <p:nvSpPr>
            <p:cNvPr name="TextBox 15" id="15"/>
            <p:cNvSpPr txBox="true"/>
            <p:nvPr/>
          </p:nvSpPr>
          <p:spPr>
            <a:xfrm rot="0">
              <a:off x="0" y="771285"/>
              <a:ext cx="8402631" cy="2367492"/>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00000"/>
                  </a:solidFill>
                  <a:latin typeface="Codec Pro"/>
                  <a:ea typeface="Codec Pro"/>
                  <a:cs typeface="Codec Pro"/>
                  <a:sym typeface="Codec Pro"/>
                </a:rPr>
                <a:t>Tracks issues, blockers, and deployment checks in real time.</a:t>
              </a:r>
            </a:p>
            <a:p>
              <a:pPr algn="l" marL="431801" indent="-215900" lvl="1">
                <a:lnSpc>
                  <a:spcPts val="2800"/>
                </a:lnSpc>
                <a:buFont typeface="Arial"/>
                <a:buChar char="•"/>
              </a:pPr>
              <a:r>
                <a:rPr lang="en-US" sz="2000">
                  <a:solidFill>
                    <a:srgbClr val="000000"/>
                  </a:solidFill>
                  <a:latin typeface="Codec Pro"/>
                  <a:ea typeface="Codec Pro"/>
                  <a:cs typeface="Codec Pro"/>
                  <a:sym typeface="Codec Pro"/>
                </a:rPr>
                <a:t>Visualizes work across To Do → In Progress → Done.</a:t>
              </a:r>
            </a:p>
            <a:p>
              <a:pPr algn="l" marL="431801" indent="-215900" lvl="1">
                <a:lnSpc>
                  <a:spcPts val="2800"/>
                </a:lnSpc>
                <a:buFont typeface="Arial"/>
                <a:buChar char="•"/>
              </a:pPr>
              <a:r>
                <a:rPr lang="en-US" sz="2000">
                  <a:solidFill>
                    <a:srgbClr val="000000"/>
                  </a:solidFill>
                  <a:latin typeface="Codec Pro"/>
                  <a:ea typeface="Codec Pro"/>
                  <a:cs typeface="Codec Pro"/>
                  <a:sym typeface="Codec Pro"/>
                </a:rPr>
                <a:t>Used alongside Scrum for stability and flow.</a:t>
              </a: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5420237" cy="4804430"/>
            <a:chOff x="0" y="0"/>
            <a:chExt cx="1427552" cy="1265364"/>
          </a:xfrm>
        </p:grpSpPr>
        <p:sp>
          <p:nvSpPr>
            <p:cNvPr name="Freeform 3" id="3"/>
            <p:cNvSpPr/>
            <p:nvPr/>
          </p:nvSpPr>
          <p:spPr>
            <a:xfrm flipH="false" flipV="false" rot="0">
              <a:off x="0" y="0"/>
              <a:ext cx="1427552" cy="1265364"/>
            </a:xfrm>
            <a:custGeom>
              <a:avLst/>
              <a:gdLst/>
              <a:ahLst/>
              <a:cxnLst/>
              <a:rect r="r" b="b" t="t" l="l"/>
              <a:pathLst>
                <a:path h="1265364" w="1427552">
                  <a:moveTo>
                    <a:pt x="0" y="0"/>
                  </a:moveTo>
                  <a:lnTo>
                    <a:pt x="1427552" y="0"/>
                  </a:lnTo>
                  <a:lnTo>
                    <a:pt x="1427552" y="1265364"/>
                  </a:lnTo>
                  <a:lnTo>
                    <a:pt x="0" y="1265364"/>
                  </a:lnTo>
                  <a:close/>
                </a:path>
              </a:pathLst>
            </a:custGeom>
            <a:solidFill>
              <a:srgbClr val="7C987C"/>
            </a:solidFill>
          </p:spPr>
        </p:sp>
        <p:sp>
          <p:nvSpPr>
            <p:cNvPr name="TextBox 4" id="4"/>
            <p:cNvSpPr txBox="true"/>
            <p:nvPr/>
          </p:nvSpPr>
          <p:spPr>
            <a:xfrm>
              <a:off x="0" y="-104775"/>
              <a:ext cx="1427552" cy="1370139"/>
            </a:xfrm>
            <a:prstGeom prst="rect">
              <a:avLst/>
            </a:prstGeom>
          </p:spPr>
          <p:txBody>
            <a:bodyPr anchor="b" rtlCol="false" tIns="50800" lIns="50800" bIns="50800" rIns="50800"/>
            <a:lstStyle/>
            <a:p>
              <a:pPr algn="ctr">
                <a:lnSpc>
                  <a:spcPts val="3000"/>
                </a:lnSpc>
              </a:pPr>
            </a:p>
          </p:txBody>
        </p:sp>
      </p:grpSp>
      <p:grpSp>
        <p:nvGrpSpPr>
          <p:cNvPr name="Group 5" id="5"/>
          <p:cNvGrpSpPr/>
          <p:nvPr/>
        </p:nvGrpSpPr>
        <p:grpSpPr>
          <a:xfrm rot="0">
            <a:off x="0" y="4804430"/>
            <a:ext cx="5420237" cy="5482570"/>
            <a:chOff x="0" y="0"/>
            <a:chExt cx="1427552" cy="1443969"/>
          </a:xfrm>
        </p:grpSpPr>
        <p:sp>
          <p:nvSpPr>
            <p:cNvPr name="Freeform 6" id="6"/>
            <p:cNvSpPr/>
            <p:nvPr/>
          </p:nvSpPr>
          <p:spPr>
            <a:xfrm flipH="false" flipV="false" rot="0">
              <a:off x="0" y="0"/>
              <a:ext cx="1427552" cy="1443969"/>
            </a:xfrm>
            <a:custGeom>
              <a:avLst/>
              <a:gdLst/>
              <a:ahLst/>
              <a:cxnLst/>
              <a:rect r="r" b="b" t="t" l="l"/>
              <a:pathLst>
                <a:path h="1443969" w="1427552">
                  <a:moveTo>
                    <a:pt x="0" y="0"/>
                  </a:moveTo>
                  <a:lnTo>
                    <a:pt x="1427552" y="0"/>
                  </a:lnTo>
                  <a:lnTo>
                    <a:pt x="1427552" y="1443969"/>
                  </a:lnTo>
                  <a:lnTo>
                    <a:pt x="0" y="1443969"/>
                  </a:lnTo>
                  <a:close/>
                </a:path>
              </a:pathLst>
            </a:custGeom>
            <a:solidFill>
              <a:srgbClr val="365236"/>
            </a:solidFill>
          </p:spPr>
        </p:sp>
        <p:sp>
          <p:nvSpPr>
            <p:cNvPr name="TextBox 7" id="7"/>
            <p:cNvSpPr txBox="true"/>
            <p:nvPr/>
          </p:nvSpPr>
          <p:spPr>
            <a:xfrm>
              <a:off x="0" y="-104775"/>
              <a:ext cx="1427552" cy="1548744"/>
            </a:xfrm>
            <a:prstGeom prst="rect">
              <a:avLst/>
            </a:prstGeom>
          </p:spPr>
          <p:txBody>
            <a:bodyPr anchor="b" rtlCol="false" tIns="50800" lIns="50800" bIns="50800" rIns="50800"/>
            <a:lstStyle/>
            <a:p>
              <a:pPr algn="ctr">
                <a:lnSpc>
                  <a:spcPts val="3000"/>
                </a:lnSpc>
              </a:pPr>
            </a:p>
          </p:txBody>
        </p:sp>
      </p:grpSp>
      <p:sp>
        <p:nvSpPr>
          <p:cNvPr name="TextBox 8" id="8"/>
          <p:cNvSpPr txBox="true"/>
          <p:nvPr/>
        </p:nvSpPr>
        <p:spPr>
          <a:xfrm rot="0">
            <a:off x="930806" y="2326015"/>
            <a:ext cx="3308175" cy="752475"/>
          </a:xfrm>
          <a:prstGeom prst="rect">
            <a:avLst/>
          </a:prstGeom>
        </p:spPr>
        <p:txBody>
          <a:bodyPr anchor="t" rtlCol="false" tIns="0" lIns="0" bIns="0" rIns="0">
            <a:spAutoFit/>
          </a:bodyPr>
          <a:lstStyle/>
          <a:p>
            <a:pPr algn="l">
              <a:lnSpc>
                <a:spcPts val="5399"/>
              </a:lnSpc>
            </a:pPr>
            <a:r>
              <a:rPr lang="en-US" sz="4499" b="true">
                <a:solidFill>
                  <a:srgbClr val="FFFFFF"/>
                </a:solidFill>
                <a:latin typeface="Codec Pro Bold"/>
                <a:ea typeface="Codec Pro Bold"/>
                <a:cs typeface="Codec Pro Bold"/>
                <a:sym typeface="Codec Pro Bold"/>
              </a:rPr>
              <a:t> Ke</a:t>
            </a:r>
            <a:r>
              <a:rPr lang="en-US" b="true" sz="4499">
                <a:solidFill>
                  <a:srgbClr val="FFFFFF"/>
                </a:solidFill>
                <a:latin typeface="Codec Pro Bold"/>
                <a:ea typeface="Codec Pro Bold"/>
                <a:cs typeface="Codec Pro Bold"/>
                <a:sym typeface="Codec Pro Bold"/>
              </a:rPr>
              <a:t>y Risks</a:t>
            </a:r>
          </a:p>
        </p:txBody>
      </p:sp>
      <p:sp>
        <p:nvSpPr>
          <p:cNvPr name="TextBox 9" id="9"/>
          <p:cNvSpPr txBox="true"/>
          <p:nvPr/>
        </p:nvSpPr>
        <p:spPr>
          <a:xfrm rot="0">
            <a:off x="514350" y="6659890"/>
            <a:ext cx="4391537" cy="885826"/>
          </a:xfrm>
          <a:prstGeom prst="rect">
            <a:avLst/>
          </a:prstGeom>
        </p:spPr>
        <p:txBody>
          <a:bodyPr anchor="t" rtlCol="false" tIns="0" lIns="0" bIns="0" rIns="0">
            <a:spAutoFit/>
          </a:bodyPr>
          <a:lstStyle/>
          <a:p>
            <a:pPr algn="l" marL="0" indent="0" lvl="0">
              <a:lnSpc>
                <a:spcPts val="6749"/>
              </a:lnSpc>
              <a:spcBef>
                <a:spcPct val="0"/>
              </a:spcBef>
            </a:pPr>
            <a:r>
              <a:rPr lang="en-US" sz="4499" spc="-89">
                <a:solidFill>
                  <a:srgbClr val="FFFFFF"/>
                </a:solidFill>
                <a:latin typeface="Codec Pro"/>
                <a:ea typeface="Codec Pro"/>
                <a:cs typeface="Codec Pro"/>
                <a:sym typeface="Codec Pro"/>
              </a:rPr>
              <a:t>K</a:t>
            </a:r>
            <a:r>
              <a:rPr lang="en-US" sz="4499" spc="-89">
                <a:solidFill>
                  <a:srgbClr val="FFFFFF"/>
                </a:solidFill>
                <a:latin typeface="Codec Pro"/>
                <a:ea typeface="Codec Pro"/>
                <a:cs typeface="Codec Pro"/>
                <a:sym typeface="Codec Pro"/>
              </a:rPr>
              <a:t>ey Constraints</a:t>
            </a:r>
          </a:p>
        </p:txBody>
      </p:sp>
      <p:sp>
        <p:nvSpPr>
          <p:cNvPr name="TextBox 10" id="10"/>
          <p:cNvSpPr txBox="true"/>
          <p:nvPr/>
        </p:nvSpPr>
        <p:spPr>
          <a:xfrm rot="0">
            <a:off x="5858509" y="1274138"/>
            <a:ext cx="11400791" cy="2837180"/>
          </a:xfrm>
          <a:prstGeom prst="rect">
            <a:avLst/>
          </a:prstGeom>
        </p:spPr>
        <p:txBody>
          <a:bodyPr anchor="t" rtlCol="false" tIns="0" lIns="0" bIns="0" rIns="0">
            <a:spAutoFit/>
          </a:bodyPr>
          <a:lstStyle/>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Service d</a:t>
            </a:r>
            <a:r>
              <a:rPr lang="en-US" b="true" sz="2299">
                <a:solidFill>
                  <a:srgbClr val="000000"/>
                </a:solidFill>
                <a:latin typeface="Codec Pro Bold"/>
                <a:ea typeface="Codec Pro Bold"/>
                <a:cs typeface="Codec Pro Bold"/>
                <a:sym typeface="Codec Pro Bold"/>
              </a:rPr>
              <a:t>owntime during transition </a:t>
            </a:r>
            <a:r>
              <a:rPr lang="en-US" sz="2299">
                <a:solidFill>
                  <a:srgbClr val="000000"/>
                </a:solidFill>
                <a:latin typeface="Codec Pro"/>
                <a:ea typeface="Codec Pro"/>
                <a:cs typeface="Codec Pro"/>
                <a:sym typeface="Codec Pro"/>
              </a:rPr>
              <a:t>if components don’t integrate smoothly after containerization.</a:t>
            </a:r>
          </a:p>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Learning curve for cloud tools </a:t>
            </a:r>
            <a:r>
              <a:rPr lang="en-US" sz="2299">
                <a:solidFill>
                  <a:srgbClr val="000000"/>
                </a:solidFill>
                <a:latin typeface="Codec Pro"/>
                <a:ea typeface="Codec Pro"/>
                <a:cs typeface="Codec Pro"/>
                <a:sym typeface="Codec Pro"/>
              </a:rPr>
              <a:t>(Docker, LocalStack, Azurite) may slow early progress.</a:t>
            </a:r>
          </a:p>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Environment inconsistencies</a:t>
            </a:r>
            <a:r>
              <a:rPr lang="en-US" sz="2299">
                <a:solidFill>
                  <a:srgbClr val="000000"/>
                </a:solidFill>
                <a:latin typeface="Codec Pro"/>
                <a:ea typeface="Codec Pro"/>
                <a:cs typeface="Codec Pro"/>
                <a:sym typeface="Codec Pro"/>
              </a:rPr>
              <a:t> between local setups could cause unexpected issues.</a:t>
            </a:r>
          </a:p>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Delayed issue detection </a:t>
            </a:r>
            <a:r>
              <a:rPr lang="en-US" sz="2299">
                <a:solidFill>
                  <a:srgbClr val="000000"/>
                </a:solidFill>
                <a:latin typeface="Codec Pro"/>
                <a:ea typeface="Codec Pro"/>
                <a:cs typeface="Codec Pro"/>
                <a:sym typeface="Codec Pro"/>
              </a:rPr>
              <a:t>due to limited monitoring in the AS-IS system.</a:t>
            </a:r>
          </a:p>
        </p:txBody>
      </p:sp>
      <p:sp>
        <p:nvSpPr>
          <p:cNvPr name="TextBox 11" id="11"/>
          <p:cNvSpPr txBox="true"/>
          <p:nvPr/>
        </p:nvSpPr>
        <p:spPr>
          <a:xfrm rot="0">
            <a:off x="5858509" y="6341437"/>
            <a:ext cx="11400791" cy="1637030"/>
          </a:xfrm>
          <a:prstGeom prst="rect">
            <a:avLst/>
          </a:prstGeom>
        </p:spPr>
        <p:txBody>
          <a:bodyPr anchor="t" rtlCol="false" tIns="0" lIns="0" bIns="0" rIns="0">
            <a:spAutoFit/>
          </a:bodyPr>
          <a:lstStyle/>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No real cloud depl</a:t>
            </a:r>
            <a:r>
              <a:rPr lang="en-US" b="true" sz="2299">
                <a:solidFill>
                  <a:srgbClr val="000000"/>
                </a:solidFill>
                <a:latin typeface="Codec Pro Bold"/>
                <a:ea typeface="Codec Pro Bold"/>
                <a:cs typeface="Codec Pro Bold"/>
                <a:sym typeface="Codec Pro Bold"/>
              </a:rPr>
              <a:t>oyment allowed </a:t>
            </a:r>
            <a:r>
              <a:rPr lang="en-US" sz="2299">
                <a:solidFill>
                  <a:srgbClr val="000000"/>
                </a:solidFill>
                <a:latin typeface="Codec Pro"/>
                <a:ea typeface="Codec Pro"/>
                <a:cs typeface="Codec Pro"/>
                <a:sym typeface="Codec Pro"/>
              </a:rPr>
              <a:t>(must rely on free tools/emulators).</a:t>
            </a:r>
          </a:p>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Limited infrastructure capacity</a:t>
            </a:r>
            <a:r>
              <a:rPr lang="en-US" sz="2299">
                <a:solidFill>
                  <a:srgbClr val="000000"/>
                </a:solidFill>
                <a:latin typeface="Codec Pro"/>
                <a:ea typeface="Codec Pro"/>
                <a:cs typeface="Codec Pro"/>
                <a:sym typeface="Codec Pro"/>
              </a:rPr>
              <a:t> on local machines running containers.</a:t>
            </a:r>
          </a:p>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Time-bound delivery</a:t>
            </a:r>
            <a:r>
              <a:rPr lang="en-US" sz="2299">
                <a:solidFill>
                  <a:srgbClr val="000000"/>
                </a:solidFill>
                <a:latin typeface="Codec Pro"/>
                <a:ea typeface="Codec Pro"/>
                <a:cs typeface="Codec Pro"/>
                <a:sym typeface="Codec Pro"/>
              </a:rPr>
              <a:t> within a short simulation cycle.</a:t>
            </a:r>
          </a:p>
          <a:p>
            <a:pPr algn="l" marL="496569" indent="-248284" lvl="1">
              <a:lnSpc>
                <a:spcPts val="3219"/>
              </a:lnSpc>
              <a:spcBef>
                <a:spcPct val="0"/>
              </a:spcBef>
              <a:buFont typeface="Arial"/>
              <a:buChar char="•"/>
            </a:pPr>
            <a:r>
              <a:rPr lang="en-US" b="true" sz="2299">
                <a:solidFill>
                  <a:srgbClr val="000000"/>
                </a:solidFill>
                <a:latin typeface="Codec Pro Bold"/>
                <a:ea typeface="Codec Pro Bold"/>
                <a:cs typeface="Codec Pro Bold"/>
                <a:sym typeface="Codec Pro Bold"/>
              </a:rPr>
              <a:t>Single-person project ownership</a:t>
            </a:r>
            <a:r>
              <a:rPr lang="en-US" sz="2299">
                <a:solidFill>
                  <a:srgbClr val="000000"/>
                </a:solidFill>
                <a:latin typeface="Codec Pro"/>
                <a:ea typeface="Codec Pro"/>
                <a:cs typeface="Codec Pro"/>
                <a:sym typeface="Codec Pro"/>
              </a:rPr>
              <a:t>, requiring efficient prioritization and scoping.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C987C"/>
        </a:solidFill>
      </p:bgPr>
    </p:bg>
    <p:spTree>
      <p:nvGrpSpPr>
        <p:cNvPr id="1" name=""/>
        <p:cNvGrpSpPr/>
        <p:nvPr/>
      </p:nvGrpSpPr>
      <p:grpSpPr>
        <a:xfrm>
          <a:off x="0" y="0"/>
          <a:ext cx="0" cy="0"/>
          <a:chOff x="0" y="0"/>
          <a:chExt cx="0" cy="0"/>
        </a:xfrm>
      </p:grpSpPr>
      <p:grpSp>
        <p:nvGrpSpPr>
          <p:cNvPr name="Group 2" id="2"/>
          <p:cNvGrpSpPr/>
          <p:nvPr/>
        </p:nvGrpSpPr>
        <p:grpSpPr>
          <a:xfrm rot="0">
            <a:off x="1028700" y="4191743"/>
            <a:ext cx="7505772" cy="6095257"/>
            <a:chOff x="0" y="0"/>
            <a:chExt cx="10007696" cy="8127010"/>
          </a:xfrm>
        </p:grpSpPr>
        <p:pic>
          <p:nvPicPr>
            <p:cNvPr name="Picture 3" id="3" descr="two colleagues discussing in a meeting room"/>
            <p:cNvPicPr>
              <a:picLocks noChangeAspect="true"/>
            </p:cNvPicPr>
            <p:nvPr/>
          </p:nvPicPr>
          <p:blipFill>
            <a:blip r:embed="rId2"/>
            <a:srcRect l="8952" t="0" r="8952" b="0"/>
            <a:stretch>
              <a:fillRect/>
            </a:stretch>
          </p:blipFill>
          <p:spPr>
            <a:xfrm flipH="false" flipV="false">
              <a:off x="0" y="0"/>
              <a:ext cx="10007696" cy="8127010"/>
            </a:xfrm>
            <a:prstGeom prst="rect">
              <a:avLst/>
            </a:prstGeom>
          </p:spPr>
        </p:pic>
      </p:grpSp>
      <p:sp>
        <p:nvSpPr>
          <p:cNvPr name="TextBox 4" id="4"/>
          <p:cNvSpPr txBox="true"/>
          <p:nvPr/>
        </p:nvSpPr>
        <p:spPr>
          <a:xfrm rot="0">
            <a:off x="1028700" y="885825"/>
            <a:ext cx="6910589" cy="2905125"/>
          </a:xfrm>
          <a:prstGeom prst="rect">
            <a:avLst/>
          </a:prstGeom>
        </p:spPr>
        <p:txBody>
          <a:bodyPr anchor="t" rtlCol="false" tIns="0" lIns="0" bIns="0" rIns="0">
            <a:spAutoFit/>
          </a:bodyPr>
          <a:lstStyle/>
          <a:p>
            <a:pPr algn="l">
              <a:lnSpc>
                <a:spcPts val="10800"/>
              </a:lnSpc>
            </a:pPr>
            <a:r>
              <a:rPr lang="en-US" sz="9000" b="true">
                <a:solidFill>
                  <a:srgbClr val="FFFFFF"/>
                </a:solidFill>
                <a:latin typeface="Codec Pro Bold"/>
                <a:ea typeface="Codec Pro Bold"/>
                <a:cs typeface="Codec Pro Bold"/>
                <a:sym typeface="Codec Pro Bold"/>
              </a:rPr>
              <a:t>SUCCESS METRICS</a:t>
            </a:r>
          </a:p>
        </p:txBody>
      </p:sp>
      <p:grpSp>
        <p:nvGrpSpPr>
          <p:cNvPr name="Group 5" id="5"/>
          <p:cNvGrpSpPr/>
          <p:nvPr/>
        </p:nvGrpSpPr>
        <p:grpSpPr>
          <a:xfrm rot="0">
            <a:off x="9144000" y="1028700"/>
            <a:ext cx="8006358" cy="7707573"/>
            <a:chOff x="0" y="0"/>
            <a:chExt cx="6040111" cy="5814704"/>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6040112" cy="5814704"/>
            </a:xfrm>
            <a:custGeom>
              <a:avLst/>
              <a:gdLst/>
              <a:ahLst/>
              <a:cxnLst/>
              <a:rect r="r" b="b" t="t" l="l"/>
              <a:pathLst>
                <a:path h="5814704" w="6040112">
                  <a:moveTo>
                    <a:pt x="19339" y="0"/>
                  </a:moveTo>
                  <a:lnTo>
                    <a:pt x="6020772" y="0"/>
                  </a:lnTo>
                  <a:cubicBezTo>
                    <a:pt x="6025901" y="0"/>
                    <a:pt x="6030820" y="2038"/>
                    <a:pt x="6034447" y="5664"/>
                  </a:cubicBezTo>
                  <a:cubicBezTo>
                    <a:pt x="6038074" y="9291"/>
                    <a:pt x="6040112" y="14210"/>
                    <a:pt x="6040112" y="19339"/>
                  </a:cubicBezTo>
                  <a:lnTo>
                    <a:pt x="6040112" y="5795364"/>
                  </a:lnTo>
                  <a:cubicBezTo>
                    <a:pt x="6040112" y="5806046"/>
                    <a:pt x="6031453" y="5814704"/>
                    <a:pt x="6020772" y="5814704"/>
                  </a:cubicBezTo>
                  <a:lnTo>
                    <a:pt x="19339" y="5814704"/>
                  </a:lnTo>
                  <a:cubicBezTo>
                    <a:pt x="8659" y="5814704"/>
                    <a:pt x="0" y="5806046"/>
                    <a:pt x="0" y="5795364"/>
                  </a:cubicBezTo>
                  <a:lnTo>
                    <a:pt x="0" y="19339"/>
                  </a:lnTo>
                  <a:cubicBezTo>
                    <a:pt x="0" y="8659"/>
                    <a:pt x="8659" y="0"/>
                    <a:pt x="19339" y="0"/>
                  </a:cubicBezTo>
                  <a:close/>
                </a:path>
              </a:pathLst>
            </a:custGeom>
            <a:solidFill>
              <a:srgbClr val="FFFFFF"/>
            </a:solidFill>
            <a:ln w="28575" cap="sq">
              <a:gradFill>
                <a:gsLst>
                  <a:gs pos="0">
                    <a:srgbClr val="00C4CC">
                      <a:alpha val="100000"/>
                    </a:srgbClr>
                  </a:gs>
                  <a:gs pos="50000">
                    <a:srgbClr val="5A32FA">
                      <a:alpha val="100000"/>
                    </a:srgbClr>
                  </a:gs>
                  <a:gs pos="100000">
                    <a:srgbClr val="7D2AE8">
                      <a:alpha val="100000"/>
                    </a:srgbClr>
                  </a:gs>
                </a:gsLst>
                <a:lin ang="0"/>
              </a:gradFill>
              <a:prstDash val="solid"/>
              <a:miter/>
            </a:ln>
          </p:spPr>
        </p:sp>
        <p:sp>
          <p:nvSpPr>
            <p:cNvPr name="TextBox 7" id="7"/>
            <p:cNvSpPr txBox="true"/>
            <p:nvPr/>
          </p:nvSpPr>
          <p:spPr>
            <a:xfrm>
              <a:off x="0" y="-76200"/>
              <a:ext cx="6040111" cy="5890904"/>
            </a:xfrm>
            <a:prstGeom prst="rect">
              <a:avLst/>
            </a:prstGeom>
          </p:spPr>
          <p:txBody>
            <a:bodyPr anchor="ctr" rtlCol="false" tIns="254000" lIns="254000" bIns="254000" rIns="254000"/>
            <a:lstStyle/>
            <a:p>
              <a:pPr algn="l" marL="0" indent="0" lvl="0">
                <a:lnSpc>
                  <a:spcPts val="2799"/>
                </a:lnSpc>
                <a:spcBef>
                  <a:spcPct val="0"/>
                </a:spcBef>
              </a:pPr>
              <a:r>
                <a:rPr lang="en-US" b="true" sz="1999" strike="noStrike" u="none">
                  <a:solidFill>
                    <a:srgbClr val="000000"/>
                  </a:solidFill>
                  <a:latin typeface="Codec Pro Bold"/>
                  <a:ea typeface="Codec Pro Bold"/>
                  <a:cs typeface="Codec Pro Bold"/>
                  <a:sym typeface="Codec Pro Bold"/>
                </a:rPr>
                <a:t>T</a:t>
              </a:r>
              <a:r>
                <a:rPr lang="en-US" b="true" sz="1999" strike="noStrike" u="none">
                  <a:solidFill>
                    <a:srgbClr val="000000"/>
                  </a:solidFill>
                  <a:latin typeface="Codec Pro Bold"/>
                  <a:ea typeface="Codec Pro Bold"/>
                  <a:cs typeface="Codec Pro Bold"/>
                  <a:sym typeface="Codec Pro Bold"/>
                </a:rPr>
                <a:t>echn</a:t>
              </a:r>
              <a:r>
                <a:rPr lang="en-US" b="true" sz="1999" strike="noStrike" u="none">
                  <a:solidFill>
                    <a:srgbClr val="000000"/>
                  </a:solidFill>
                  <a:latin typeface="Codec Pro Bold"/>
                  <a:ea typeface="Codec Pro Bold"/>
                  <a:cs typeface="Codec Pro Bold"/>
                  <a:sym typeface="Codec Pro Bold"/>
                </a:rPr>
                <a:t>i</a:t>
              </a:r>
              <a:r>
                <a:rPr lang="en-US" b="true" sz="1999" strike="noStrike" u="none">
                  <a:solidFill>
                    <a:srgbClr val="000000"/>
                  </a:solidFill>
                  <a:latin typeface="Codec Pro Bold"/>
                  <a:ea typeface="Codec Pro Bold"/>
                  <a:cs typeface="Codec Pro Bold"/>
                  <a:sym typeface="Codec Pro Bold"/>
                </a:rPr>
                <a:t>cal</a:t>
              </a:r>
              <a:r>
                <a:rPr lang="en-US" b="true" sz="1999" strike="noStrike" u="none">
                  <a:solidFill>
                    <a:srgbClr val="000000"/>
                  </a:solidFill>
                  <a:latin typeface="Codec Pro Bold"/>
                  <a:ea typeface="Codec Pro Bold"/>
                  <a:cs typeface="Codec Pro Bold"/>
                  <a:sym typeface="Codec Pro Bold"/>
                </a:rPr>
                <a:t> </a:t>
              </a:r>
              <a:r>
                <a:rPr lang="en-US" b="true" sz="1999" strike="noStrike" u="none">
                  <a:solidFill>
                    <a:srgbClr val="000000"/>
                  </a:solidFill>
                  <a:latin typeface="Codec Pro Bold"/>
                  <a:ea typeface="Codec Pro Bold"/>
                  <a:cs typeface="Codec Pro Bold"/>
                  <a:sym typeface="Codec Pro Bold"/>
                </a:rPr>
                <a:t>Success Metrics</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Zero-downtime cutover achieved through Blue–Green deployment.</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Stable performance under simulated peak load with separate containers.</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Successful rollback test, ensuring recovery within minutes.</a:t>
              </a:r>
            </a:p>
            <a:p>
              <a:pPr algn="l">
                <a:lnSpc>
                  <a:spcPts val="2799"/>
                </a:lnSpc>
                <a:spcBef>
                  <a:spcPct val="0"/>
                </a:spcBef>
              </a:pPr>
            </a:p>
            <a:p>
              <a:pPr algn="l">
                <a:lnSpc>
                  <a:spcPts val="2799"/>
                </a:lnSpc>
                <a:spcBef>
                  <a:spcPct val="0"/>
                </a:spcBef>
              </a:pPr>
              <a:r>
                <a:rPr lang="en-US" b="true" sz="1999" strike="noStrike" u="none">
                  <a:solidFill>
                    <a:srgbClr val="000000"/>
                  </a:solidFill>
                  <a:latin typeface="Codec Pro Bold"/>
                  <a:ea typeface="Codec Pro Bold"/>
                  <a:cs typeface="Codec Pro Bold"/>
                  <a:sym typeface="Codec Pro Bold"/>
                </a:rPr>
                <a:t>Process &amp; Delivery Metrics</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All planned user stories completed within the sprint timeline.</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100% UAT pass rate for critical booking and attendance flows.</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CI/CD pipeline executed build–test steps without failures.</a:t>
              </a:r>
            </a:p>
            <a:p>
              <a:pPr algn="l">
                <a:lnSpc>
                  <a:spcPts val="2799"/>
                </a:lnSpc>
                <a:spcBef>
                  <a:spcPct val="0"/>
                </a:spcBef>
              </a:pPr>
            </a:p>
            <a:p>
              <a:pPr algn="l" marL="0" indent="0" lvl="0">
                <a:lnSpc>
                  <a:spcPts val="2799"/>
                </a:lnSpc>
                <a:spcBef>
                  <a:spcPct val="0"/>
                </a:spcBef>
              </a:pPr>
              <a:r>
                <a:rPr lang="en-US" b="true" sz="1999" strike="noStrike" u="none">
                  <a:solidFill>
                    <a:srgbClr val="000000"/>
                  </a:solidFill>
                  <a:latin typeface="Codec Pro Bold"/>
                  <a:ea typeface="Codec Pro Bold"/>
                  <a:cs typeface="Codec Pro Bold"/>
                  <a:sym typeface="Codec Pro Bold"/>
                </a:rPr>
                <a:t>Business-Level Metrics</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Reduced outages and improved daily system availability.</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Faster deployment cycles, moving from manual to automated.</a:t>
              </a:r>
            </a:p>
            <a:p>
              <a:pPr algn="l" marL="431799" indent="-215899" lvl="1">
                <a:lnSpc>
                  <a:spcPts val="2799"/>
                </a:lnSpc>
                <a:spcBef>
                  <a:spcPct val="0"/>
                </a:spcBef>
                <a:buFont typeface="Arial"/>
                <a:buChar char="•"/>
              </a:pPr>
              <a:r>
                <a:rPr lang="en-US" sz="1999" strike="noStrike" u="none">
                  <a:solidFill>
                    <a:srgbClr val="000000"/>
                  </a:solidFill>
                  <a:latin typeface="Codec Pro"/>
                  <a:ea typeface="Codec Pro"/>
                  <a:cs typeface="Codec Pro"/>
                  <a:sym typeface="Codec Pro"/>
                </a:rPr>
                <a:t>Improved reliability and user confidence in IndoorApp.</a:t>
              </a:r>
            </a:p>
          </p:txBody>
        </p:sp>
      </p:grpSp>
      <p:sp>
        <p:nvSpPr>
          <p:cNvPr name="TextBox 8" id="8"/>
          <p:cNvSpPr txBox="true"/>
          <p:nvPr/>
        </p:nvSpPr>
        <p:spPr>
          <a:xfrm rot="0">
            <a:off x="9894365" y="9201150"/>
            <a:ext cx="4248507" cy="355544"/>
          </a:xfrm>
          <a:prstGeom prst="rect">
            <a:avLst/>
          </a:prstGeom>
        </p:spPr>
        <p:txBody>
          <a:bodyPr anchor="t" rtlCol="false" tIns="0" lIns="0" bIns="0" rIns="0">
            <a:spAutoFit/>
          </a:bodyPr>
          <a:lstStyle/>
          <a:p>
            <a:pPr algn="just">
              <a:lnSpc>
                <a:spcPts val="2599"/>
              </a:lnSpc>
            </a:pPr>
            <a:r>
              <a:rPr lang="en-US" sz="1999" u="sng">
                <a:solidFill>
                  <a:srgbClr val="FFFFFF"/>
                </a:solidFill>
                <a:latin typeface="Codec Pro"/>
                <a:ea typeface="Codec Pro"/>
                <a:cs typeface="Codec Pro"/>
                <a:sym typeface="Codec Pro"/>
                <a:hlinkClick r:id="rId3" action="ppaction://hlinksldjump"/>
              </a:rPr>
              <a:t>Back to Agenda</a:t>
            </a:r>
          </a:p>
        </p:txBody>
      </p:sp>
      <p:sp>
        <p:nvSpPr>
          <p:cNvPr name="TextBox 9" id="9"/>
          <p:cNvSpPr txBox="true"/>
          <p:nvPr/>
        </p:nvSpPr>
        <p:spPr>
          <a:xfrm rot="0">
            <a:off x="17041490" y="9169344"/>
            <a:ext cx="152400" cy="238125"/>
          </a:xfrm>
          <a:prstGeom prst="rect">
            <a:avLst/>
          </a:prstGeom>
        </p:spPr>
        <p:txBody>
          <a:bodyPr anchor="t" rtlCol="false" tIns="0" lIns="0" bIns="0" rIns="0" wrap="none">
            <a:spAutoFit/>
          </a:bodyPr>
          <a:lstStyle/>
          <a:p>
            <a:pPr algn="r">
              <a:lnSpc>
                <a:spcPts val="2800"/>
              </a:lnSpc>
              <a:spcBef>
                <a:spcPct val="0"/>
              </a:spcBef>
            </a:pPr>
            <a:r>
              <a:rPr lang="en-US" sz="2000">
                <a:solidFill>
                  <a:srgbClr val="FFFFFF"/>
                </a:solidFill>
                <a:latin typeface="Codec Pro"/>
                <a:ea typeface="Codec Pro"/>
                <a:cs typeface="Codec Pro"/>
                <a:sym typeface="Codec Pro"/>
              </a:rPr>
              <a:t>12</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0" y="0"/>
            <a:ext cx="6738822" cy="10287000"/>
          </a:xfrm>
          <a:prstGeom prst="rect">
            <a:avLst/>
          </a:prstGeom>
          <a:solidFill>
            <a:srgbClr val="7C987C"/>
          </a:solidFill>
        </p:spPr>
      </p:sp>
      <p:sp>
        <p:nvSpPr>
          <p:cNvPr name="TextBox 3" id="3"/>
          <p:cNvSpPr txBox="true"/>
          <p:nvPr/>
        </p:nvSpPr>
        <p:spPr>
          <a:xfrm rot="0">
            <a:off x="1028700" y="1571587"/>
            <a:ext cx="4769352" cy="1247775"/>
          </a:xfrm>
          <a:prstGeom prst="rect">
            <a:avLst/>
          </a:prstGeom>
        </p:spPr>
        <p:txBody>
          <a:bodyPr anchor="t" rtlCol="false" tIns="0" lIns="0" bIns="0" rIns="0">
            <a:spAutoFit/>
          </a:bodyPr>
          <a:lstStyle/>
          <a:p>
            <a:pPr algn="l">
              <a:lnSpc>
                <a:spcPts val="8999"/>
              </a:lnSpc>
            </a:pPr>
            <a:r>
              <a:rPr lang="en-US" sz="7499">
                <a:solidFill>
                  <a:srgbClr val="FFFFFF"/>
                </a:solidFill>
                <a:latin typeface="Codec Pro"/>
                <a:ea typeface="Codec Pro"/>
                <a:cs typeface="Codec Pro"/>
                <a:sym typeface="Codec Pro"/>
              </a:rPr>
              <a:t>OUTCOME</a:t>
            </a:r>
          </a:p>
        </p:txBody>
      </p:sp>
      <p:sp>
        <p:nvSpPr>
          <p:cNvPr name="TextBox 4" id="4"/>
          <p:cNvSpPr txBox="true"/>
          <p:nvPr/>
        </p:nvSpPr>
        <p:spPr>
          <a:xfrm rot="0">
            <a:off x="1028700" y="4535805"/>
            <a:ext cx="4383248" cy="4722495"/>
          </a:xfrm>
          <a:prstGeom prst="rect">
            <a:avLst/>
          </a:prstGeom>
        </p:spPr>
        <p:txBody>
          <a:bodyPr anchor="t" rtlCol="false" tIns="0" lIns="0" bIns="0" rIns="0">
            <a:spAutoFit/>
          </a:bodyPr>
          <a:lstStyle/>
          <a:p>
            <a:pPr algn="l" marL="0" indent="0" lvl="0">
              <a:lnSpc>
                <a:spcPts val="3120"/>
              </a:lnSpc>
              <a:spcBef>
                <a:spcPct val="0"/>
              </a:spcBef>
            </a:pPr>
            <a:r>
              <a:rPr lang="en-US" sz="2400">
                <a:solidFill>
                  <a:srgbClr val="FFFFFF"/>
                </a:solidFill>
                <a:latin typeface="Codec Pro"/>
                <a:ea typeface="Codec Pro"/>
                <a:cs typeface="Codec Pro"/>
                <a:sym typeface="Codec Pro"/>
              </a:rPr>
              <a:t>I</a:t>
            </a:r>
            <a:r>
              <a:rPr lang="en-US" sz="2400" u="none">
                <a:solidFill>
                  <a:srgbClr val="FFFFFF"/>
                </a:solidFill>
                <a:latin typeface="Codec Pro"/>
                <a:ea typeface="Codec Pro"/>
                <a:cs typeface="Codec Pro"/>
                <a:sym typeface="Codec Pro"/>
              </a:rPr>
              <a:t>ndoorApp’s migration resulted in a stable, scalable microservices architecture with automated CI/CD processes and zero-downtime release capability. The system now performs reliably during peak hours, reduces IT operational load, and enhances user experience, strengthening IndoorApp’s readiness for future growth.</a:t>
            </a:r>
          </a:p>
        </p:txBody>
      </p:sp>
      <p:sp>
        <p:nvSpPr>
          <p:cNvPr name="TextBox 5" id="5"/>
          <p:cNvSpPr txBox="true"/>
          <p:nvPr/>
        </p:nvSpPr>
        <p:spPr>
          <a:xfrm rot="0">
            <a:off x="9279582" y="3433818"/>
            <a:ext cx="7707462" cy="654051"/>
          </a:xfrm>
          <a:prstGeom prst="rect">
            <a:avLst/>
          </a:prstGeom>
        </p:spPr>
        <p:txBody>
          <a:bodyPr anchor="t" rtlCol="false" tIns="0" lIns="0" bIns="0" rIns="0">
            <a:spAutoFit/>
          </a:bodyPr>
          <a:lstStyle/>
          <a:p>
            <a:pPr algn="l" marL="0" indent="0" lvl="0">
              <a:lnSpc>
                <a:spcPts val="4899"/>
              </a:lnSpc>
            </a:pPr>
            <a:r>
              <a:rPr lang="en-US" sz="3499">
                <a:solidFill>
                  <a:srgbClr val="000000"/>
                </a:solidFill>
                <a:latin typeface="Codec Pro"/>
                <a:ea typeface="Codec Pro"/>
                <a:cs typeface="Codec Pro"/>
                <a:sym typeface="Codec Pro"/>
              </a:rPr>
              <a:t>St</a:t>
            </a:r>
            <a:r>
              <a:rPr lang="en-US" sz="3499">
                <a:solidFill>
                  <a:srgbClr val="000000"/>
                </a:solidFill>
                <a:latin typeface="Codec Pro"/>
                <a:ea typeface="Codec Pro"/>
                <a:cs typeface="Codec Pro"/>
                <a:sym typeface="Codec Pro"/>
              </a:rPr>
              <a:t>a</a:t>
            </a:r>
            <a:r>
              <a:rPr lang="en-US" sz="3499">
                <a:solidFill>
                  <a:srgbClr val="000000"/>
                </a:solidFill>
                <a:latin typeface="Codec Pro"/>
                <a:ea typeface="Codec Pro"/>
                <a:cs typeface="Codec Pro"/>
                <a:sym typeface="Codec Pro"/>
              </a:rPr>
              <a:t>ble mi</a:t>
            </a:r>
            <a:r>
              <a:rPr lang="en-US" sz="3499">
                <a:solidFill>
                  <a:srgbClr val="000000"/>
                </a:solidFill>
                <a:latin typeface="Codec Pro"/>
                <a:ea typeface="Codec Pro"/>
                <a:cs typeface="Codec Pro"/>
                <a:sym typeface="Codec Pro"/>
              </a:rPr>
              <a:t>c</a:t>
            </a:r>
            <a:r>
              <a:rPr lang="en-US" sz="3499">
                <a:solidFill>
                  <a:srgbClr val="000000"/>
                </a:solidFill>
                <a:latin typeface="Codec Pro"/>
                <a:ea typeface="Codec Pro"/>
                <a:cs typeface="Codec Pro"/>
                <a:sym typeface="Codec Pro"/>
              </a:rPr>
              <a:t>r</a:t>
            </a:r>
            <a:r>
              <a:rPr lang="en-US" sz="3499">
                <a:solidFill>
                  <a:srgbClr val="000000"/>
                </a:solidFill>
                <a:latin typeface="Codec Pro"/>
                <a:ea typeface="Codec Pro"/>
                <a:cs typeface="Codec Pro"/>
                <a:sym typeface="Codec Pro"/>
              </a:rPr>
              <a:t>o</a:t>
            </a:r>
            <a:r>
              <a:rPr lang="en-US" sz="3499">
                <a:solidFill>
                  <a:srgbClr val="000000"/>
                </a:solidFill>
                <a:latin typeface="Codec Pro"/>
                <a:ea typeface="Codec Pro"/>
                <a:cs typeface="Codec Pro"/>
                <a:sym typeface="Codec Pro"/>
              </a:rPr>
              <a:t>se</a:t>
            </a:r>
            <a:r>
              <a:rPr lang="en-US" sz="3499">
                <a:solidFill>
                  <a:srgbClr val="000000"/>
                </a:solidFill>
                <a:latin typeface="Codec Pro"/>
                <a:ea typeface="Codec Pro"/>
                <a:cs typeface="Codec Pro"/>
                <a:sym typeface="Codec Pro"/>
              </a:rPr>
              <a:t>r</a:t>
            </a:r>
            <a:r>
              <a:rPr lang="en-US" sz="3499">
                <a:solidFill>
                  <a:srgbClr val="000000"/>
                </a:solidFill>
                <a:latin typeface="Codec Pro"/>
                <a:ea typeface="Codec Pro"/>
                <a:cs typeface="Codec Pro"/>
                <a:sym typeface="Codec Pro"/>
              </a:rPr>
              <a:t>vices</a:t>
            </a:r>
            <a:r>
              <a:rPr lang="en-US" sz="3499">
                <a:solidFill>
                  <a:srgbClr val="000000"/>
                </a:solidFill>
                <a:latin typeface="Codec Pro"/>
                <a:ea typeface="Codec Pro"/>
                <a:cs typeface="Codec Pro"/>
                <a:sym typeface="Codec Pro"/>
              </a:rPr>
              <a:t> se</a:t>
            </a:r>
            <a:r>
              <a:rPr lang="en-US" sz="3499">
                <a:solidFill>
                  <a:srgbClr val="000000"/>
                </a:solidFill>
                <a:latin typeface="Codec Pro"/>
                <a:ea typeface="Codec Pro"/>
                <a:cs typeface="Codec Pro"/>
                <a:sym typeface="Codec Pro"/>
              </a:rPr>
              <a:t>tup</a:t>
            </a:r>
          </a:p>
        </p:txBody>
      </p:sp>
      <p:sp>
        <p:nvSpPr>
          <p:cNvPr name="TextBox 6" id="6"/>
          <p:cNvSpPr txBox="true"/>
          <p:nvPr/>
        </p:nvSpPr>
        <p:spPr>
          <a:xfrm rot="0">
            <a:off x="9279582" y="4599133"/>
            <a:ext cx="7707462" cy="654051"/>
          </a:xfrm>
          <a:prstGeom prst="rect">
            <a:avLst/>
          </a:prstGeom>
        </p:spPr>
        <p:txBody>
          <a:bodyPr anchor="t" rtlCol="false" tIns="0" lIns="0" bIns="0" rIns="0">
            <a:spAutoFit/>
          </a:bodyPr>
          <a:lstStyle/>
          <a:p>
            <a:pPr algn="l">
              <a:lnSpc>
                <a:spcPts val="4899"/>
              </a:lnSpc>
            </a:pPr>
            <a:r>
              <a:rPr lang="en-US" sz="3499">
                <a:solidFill>
                  <a:srgbClr val="000000"/>
                </a:solidFill>
                <a:latin typeface="Codec Pro"/>
                <a:ea typeface="Codec Pro"/>
                <a:cs typeface="Codec Pro"/>
                <a:sym typeface="Codec Pro"/>
              </a:rPr>
              <a:t>Automated de</a:t>
            </a:r>
            <a:r>
              <a:rPr lang="en-US" sz="3499">
                <a:solidFill>
                  <a:srgbClr val="000000"/>
                </a:solidFill>
                <a:latin typeface="Codec Pro"/>
                <a:ea typeface="Codec Pro"/>
                <a:cs typeface="Codec Pro"/>
                <a:sym typeface="Codec Pro"/>
              </a:rPr>
              <a:t>plo</a:t>
            </a:r>
            <a:r>
              <a:rPr lang="en-US" sz="3499">
                <a:solidFill>
                  <a:srgbClr val="000000"/>
                </a:solidFill>
                <a:latin typeface="Codec Pro"/>
                <a:ea typeface="Codec Pro"/>
                <a:cs typeface="Codec Pro"/>
                <a:sym typeface="Codec Pro"/>
              </a:rPr>
              <a:t>yments</a:t>
            </a:r>
          </a:p>
        </p:txBody>
      </p:sp>
      <p:sp>
        <p:nvSpPr>
          <p:cNvPr name="TextBox 7" id="7"/>
          <p:cNvSpPr txBox="true"/>
          <p:nvPr/>
        </p:nvSpPr>
        <p:spPr>
          <a:xfrm rot="0">
            <a:off x="9279582" y="5825596"/>
            <a:ext cx="7707462" cy="654051"/>
          </a:xfrm>
          <a:prstGeom prst="rect">
            <a:avLst/>
          </a:prstGeom>
        </p:spPr>
        <p:txBody>
          <a:bodyPr anchor="t" rtlCol="false" tIns="0" lIns="0" bIns="0" rIns="0">
            <a:spAutoFit/>
          </a:bodyPr>
          <a:lstStyle/>
          <a:p>
            <a:pPr algn="l">
              <a:lnSpc>
                <a:spcPts val="4899"/>
              </a:lnSpc>
            </a:pPr>
            <a:r>
              <a:rPr lang="en-US" sz="3499">
                <a:solidFill>
                  <a:srgbClr val="000000"/>
                </a:solidFill>
                <a:latin typeface="Codec Pro"/>
                <a:ea typeface="Codec Pro"/>
                <a:cs typeface="Codec Pro"/>
                <a:sym typeface="Codec Pro"/>
              </a:rPr>
              <a:t>Verified rollback + DR</a:t>
            </a:r>
          </a:p>
        </p:txBody>
      </p:sp>
      <p:sp>
        <p:nvSpPr>
          <p:cNvPr name="TextBox 8" id="8"/>
          <p:cNvSpPr txBox="true"/>
          <p:nvPr/>
        </p:nvSpPr>
        <p:spPr>
          <a:xfrm rot="0">
            <a:off x="9279582" y="7218520"/>
            <a:ext cx="7707462" cy="1273176"/>
          </a:xfrm>
          <a:prstGeom prst="rect">
            <a:avLst/>
          </a:prstGeom>
        </p:spPr>
        <p:txBody>
          <a:bodyPr anchor="t" rtlCol="false" tIns="0" lIns="0" bIns="0" rIns="0">
            <a:spAutoFit/>
          </a:bodyPr>
          <a:lstStyle/>
          <a:p>
            <a:pPr algn="l">
              <a:lnSpc>
                <a:spcPts val="4899"/>
              </a:lnSpc>
            </a:pPr>
            <a:r>
              <a:rPr lang="en-US" sz="3499">
                <a:solidFill>
                  <a:srgbClr val="000000"/>
                </a:solidFill>
                <a:latin typeface="Codec Pro"/>
                <a:ea typeface="Codec Pro"/>
                <a:cs typeface="Codec Pro"/>
                <a:sym typeface="Codec Pro"/>
              </a:rPr>
              <a:t>Improved </a:t>
            </a:r>
            <a:r>
              <a:rPr lang="en-US" sz="3499">
                <a:solidFill>
                  <a:srgbClr val="000000"/>
                </a:solidFill>
                <a:latin typeface="Codec Pro"/>
                <a:ea typeface="Codec Pro"/>
                <a:cs typeface="Codec Pro"/>
                <a:sym typeface="Codec Pro"/>
              </a:rPr>
              <a:t>rel</a:t>
            </a:r>
            <a:r>
              <a:rPr lang="en-US" sz="3499">
                <a:solidFill>
                  <a:srgbClr val="000000"/>
                </a:solidFill>
                <a:latin typeface="Codec Pro"/>
                <a:ea typeface="Codec Pro"/>
                <a:cs typeface="Codec Pro"/>
                <a:sym typeface="Codec Pro"/>
              </a:rPr>
              <a:t>i</a:t>
            </a:r>
            <a:r>
              <a:rPr lang="en-US" sz="3499">
                <a:solidFill>
                  <a:srgbClr val="000000"/>
                </a:solidFill>
                <a:latin typeface="Codec Pro"/>
                <a:ea typeface="Codec Pro"/>
                <a:cs typeface="Codec Pro"/>
                <a:sym typeface="Codec Pro"/>
              </a:rPr>
              <a:t>abili</a:t>
            </a:r>
            <a:r>
              <a:rPr lang="en-US" sz="3499">
                <a:solidFill>
                  <a:srgbClr val="000000"/>
                </a:solidFill>
                <a:latin typeface="Codec Pro"/>
                <a:ea typeface="Codec Pro"/>
                <a:cs typeface="Codec Pro"/>
                <a:sym typeface="Codec Pro"/>
              </a:rPr>
              <a:t>ty &amp; user</a:t>
            </a:r>
            <a:r>
              <a:rPr lang="en-US" sz="3499">
                <a:solidFill>
                  <a:srgbClr val="000000"/>
                </a:solidFill>
                <a:latin typeface="Codec Pro"/>
                <a:ea typeface="Codec Pro"/>
                <a:cs typeface="Codec Pro"/>
                <a:sym typeface="Codec Pro"/>
              </a:rPr>
              <a:t> e</a:t>
            </a:r>
            <a:r>
              <a:rPr lang="en-US" sz="3499">
                <a:solidFill>
                  <a:srgbClr val="000000"/>
                </a:solidFill>
                <a:latin typeface="Codec Pro"/>
                <a:ea typeface="Codec Pro"/>
                <a:cs typeface="Codec Pro"/>
                <a:sym typeface="Codec Pro"/>
              </a:rPr>
              <a:t>xper</a:t>
            </a:r>
            <a:r>
              <a:rPr lang="en-US" sz="3499">
                <a:solidFill>
                  <a:srgbClr val="000000"/>
                </a:solidFill>
                <a:latin typeface="Codec Pro"/>
                <a:ea typeface="Codec Pro"/>
                <a:cs typeface="Codec Pro"/>
                <a:sym typeface="Codec Pro"/>
              </a:rPr>
              <a:t>i</a:t>
            </a:r>
            <a:r>
              <a:rPr lang="en-US" sz="3499">
                <a:solidFill>
                  <a:srgbClr val="000000"/>
                </a:solidFill>
                <a:latin typeface="Codec Pro"/>
                <a:ea typeface="Codec Pro"/>
                <a:cs typeface="Codec Pro"/>
                <a:sym typeface="Codec Pro"/>
              </a:rPr>
              <a:t>ence</a:t>
            </a:r>
          </a:p>
        </p:txBody>
      </p:sp>
      <p:sp>
        <p:nvSpPr>
          <p:cNvPr name="TextBox 9" id="9"/>
          <p:cNvSpPr txBox="true"/>
          <p:nvPr/>
        </p:nvSpPr>
        <p:spPr>
          <a:xfrm rot="0">
            <a:off x="8129530" y="3446518"/>
            <a:ext cx="682326" cy="704850"/>
          </a:xfrm>
          <a:prstGeom prst="rect">
            <a:avLst/>
          </a:prstGeom>
        </p:spPr>
        <p:txBody>
          <a:bodyPr anchor="t" rtlCol="false" tIns="0" lIns="0" bIns="0" rIns="0">
            <a:spAutoFit/>
          </a:bodyPr>
          <a:lstStyle/>
          <a:p>
            <a:pPr algn="l" marL="0" indent="0" lvl="0">
              <a:lnSpc>
                <a:spcPts val="5040"/>
              </a:lnSpc>
              <a:spcBef>
                <a:spcPct val="0"/>
              </a:spcBef>
            </a:pPr>
            <a:r>
              <a:rPr lang="en-US" sz="4200" u="none">
                <a:solidFill>
                  <a:srgbClr val="365236"/>
                </a:solidFill>
                <a:latin typeface="Codec Pro"/>
                <a:ea typeface="Codec Pro"/>
                <a:cs typeface="Codec Pro"/>
                <a:sym typeface="Codec Pro"/>
              </a:rPr>
              <a:t>01</a:t>
            </a:r>
          </a:p>
        </p:txBody>
      </p:sp>
      <p:sp>
        <p:nvSpPr>
          <p:cNvPr name="TextBox 10" id="10"/>
          <p:cNvSpPr txBox="true"/>
          <p:nvPr/>
        </p:nvSpPr>
        <p:spPr>
          <a:xfrm rot="0">
            <a:off x="8129530" y="4611833"/>
            <a:ext cx="682326" cy="704850"/>
          </a:xfrm>
          <a:prstGeom prst="rect">
            <a:avLst/>
          </a:prstGeom>
        </p:spPr>
        <p:txBody>
          <a:bodyPr anchor="t" rtlCol="false" tIns="0" lIns="0" bIns="0" rIns="0">
            <a:spAutoFit/>
          </a:bodyPr>
          <a:lstStyle/>
          <a:p>
            <a:pPr algn="l" marL="0" indent="0" lvl="0">
              <a:lnSpc>
                <a:spcPts val="5040"/>
              </a:lnSpc>
              <a:spcBef>
                <a:spcPct val="0"/>
              </a:spcBef>
            </a:pPr>
            <a:r>
              <a:rPr lang="en-US" sz="4200">
                <a:solidFill>
                  <a:srgbClr val="365236"/>
                </a:solidFill>
                <a:latin typeface="Codec Pro"/>
                <a:ea typeface="Codec Pro"/>
                <a:cs typeface="Codec Pro"/>
                <a:sym typeface="Codec Pro"/>
              </a:rPr>
              <a:t>02</a:t>
            </a:r>
          </a:p>
        </p:txBody>
      </p:sp>
      <p:sp>
        <p:nvSpPr>
          <p:cNvPr name="TextBox 11" id="11"/>
          <p:cNvSpPr txBox="true"/>
          <p:nvPr/>
        </p:nvSpPr>
        <p:spPr>
          <a:xfrm rot="0">
            <a:off x="8129530" y="5838297"/>
            <a:ext cx="682326" cy="704850"/>
          </a:xfrm>
          <a:prstGeom prst="rect">
            <a:avLst/>
          </a:prstGeom>
        </p:spPr>
        <p:txBody>
          <a:bodyPr anchor="t" rtlCol="false" tIns="0" lIns="0" bIns="0" rIns="0">
            <a:spAutoFit/>
          </a:bodyPr>
          <a:lstStyle/>
          <a:p>
            <a:pPr algn="l" marL="0" indent="0" lvl="0">
              <a:lnSpc>
                <a:spcPts val="5040"/>
              </a:lnSpc>
              <a:spcBef>
                <a:spcPct val="0"/>
              </a:spcBef>
            </a:pPr>
            <a:r>
              <a:rPr lang="en-US" sz="4200">
                <a:solidFill>
                  <a:srgbClr val="365236"/>
                </a:solidFill>
                <a:latin typeface="Codec Pro"/>
                <a:ea typeface="Codec Pro"/>
                <a:cs typeface="Codec Pro"/>
                <a:sym typeface="Codec Pro"/>
              </a:rPr>
              <a:t>03</a:t>
            </a:r>
          </a:p>
        </p:txBody>
      </p:sp>
      <p:sp>
        <p:nvSpPr>
          <p:cNvPr name="TextBox 12" id="12"/>
          <p:cNvSpPr txBox="true"/>
          <p:nvPr/>
        </p:nvSpPr>
        <p:spPr>
          <a:xfrm rot="0">
            <a:off x="8129530" y="7275670"/>
            <a:ext cx="682326" cy="704850"/>
          </a:xfrm>
          <a:prstGeom prst="rect">
            <a:avLst/>
          </a:prstGeom>
        </p:spPr>
        <p:txBody>
          <a:bodyPr anchor="t" rtlCol="false" tIns="0" lIns="0" bIns="0" rIns="0">
            <a:spAutoFit/>
          </a:bodyPr>
          <a:lstStyle/>
          <a:p>
            <a:pPr algn="l" marL="0" indent="0" lvl="0">
              <a:lnSpc>
                <a:spcPts val="5040"/>
              </a:lnSpc>
              <a:spcBef>
                <a:spcPct val="0"/>
              </a:spcBef>
            </a:pPr>
            <a:r>
              <a:rPr lang="en-US" sz="4200">
                <a:solidFill>
                  <a:srgbClr val="365236"/>
                </a:solidFill>
                <a:latin typeface="Codec Pro"/>
                <a:ea typeface="Codec Pro"/>
                <a:cs typeface="Codec Pro"/>
                <a:sym typeface="Codec Pro"/>
              </a:rPr>
              <a:t>04</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a:extLst>
              <a:ext uri="{C183D7F6-B498-43B3-948B-1728B52AA6E4}">
                <adec:decorative xmlns:adec="http://schemas.microsoft.com/office/drawing/2017/decorative" val="1"/>
              </a:ext>
            </a:extLst>
          </p:cNvPr>
          <p:cNvSpPr/>
          <p:nvPr/>
        </p:nvSpPr>
        <p:spPr>
          <a:xfrm rot="0">
            <a:off x="0" y="0"/>
            <a:ext cx="6738822" cy="10287000"/>
          </a:xfrm>
          <a:prstGeom prst="rect">
            <a:avLst/>
          </a:prstGeom>
          <a:solidFill>
            <a:srgbClr val="7C987C"/>
          </a:solidFill>
        </p:spPr>
      </p:sp>
      <p:sp>
        <p:nvSpPr>
          <p:cNvPr name="TextBox 3" id="3"/>
          <p:cNvSpPr txBox="true"/>
          <p:nvPr/>
        </p:nvSpPr>
        <p:spPr>
          <a:xfrm rot="0">
            <a:off x="1028700" y="904875"/>
            <a:ext cx="5059131" cy="1333500"/>
          </a:xfrm>
          <a:prstGeom prst="rect">
            <a:avLst/>
          </a:prstGeom>
        </p:spPr>
        <p:txBody>
          <a:bodyPr anchor="t" rtlCol="false" tIns="0" lIns="0" bIns="0" rIns="0">
            <a:spAutoFit/>
          </a:bodyPr>
          <a:lstStyle/>
          <a:p>
            <a:pPr algn="l">
              <a:lnSpc>
                <a:spcPts val="9599"/>
              </a:lnSpc>
            </a:pPr>
            <a:r>
              <a:rPr lang="en-US" sz="7999">
                <a:solidFill>
                  <a:srgbClr val="FFFFFF"/>
                </a:solidFill>
                <a:latin typeface="Codec Pro"/>
                <a:ea typeface="Codec Pro"/>
                <a:cs typeface="Codec Pro"/>
                <a:sym typeface="Codec Pro"/>
              </a:rPr>
              <a:t>Summary</a:t>
            </a:r>
          </a:p>
        </p:txBody>
      </p:sp>
      <p:sp>
        <p:nvSpPr>
          <p:cNvPr name="TextBox 4" id="4"/>
          <p:cNvSpPr txBox="true"/>
          <p:nvPr/>
        </p:nvSpPr>
        <p:spPr>
          <a:xfrm rot="0">
            <a:off x="6992170" y="2705860"/>
            <a:ext cx="9210935" cy="4316095"/>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Codec Pro"/>
                <a:ea typeface="Codec Pro"/>
                <a:cs typeface="Codec Pro"/>
                <a:sym typeface="Codec Pro"/>
              </a:rPr>
              <a:t>Indo</a:t>
            </a:r>
            <a:r>
              <a:rPr lang="en-US" sz="2200">
                <a:solidFill>
                  <a:srgbClr val="000000"/>
                </a:solidFill>
                <a:latin typeface="Codec Pro"/>
                <a:ea typeface="Codec Pro"/>
                <a:cs typeface="Codec Pro"/>
                <a:sym typeface="Codec Pro"/>
              </a:rPr>
              <a:t>orApp now runs on a modern, scalable architecture with automated, zero-downtime deployments.</a:t>
            </a:r>
          </a:p>
          <a:p>
            <a:pPr algn="l">
              <a:lnSpc>
                <a:spcPts val="3080"/>
              </a:lnSpc>
              <a:spcBef>
                <a:spcPct val="0"/>
              </a:spcBef>
            </a:pPr>
            <a:r>
              <a:rPr lang="en-US" sz="2200">
                <a:solidFill>
                  <a:srgbClr val="000000"/>
                </a:solidFill>
                <a:latin typeface="Codec Pro"/>
                <a:ea typeface="Codec Pro"/>
                <a:cs typeface="Codec Pro"/>
                <a:sym typeface="Codec Pro"/>
              </a:rPr>
              <a:t> Operational risks and outages have reduced significantly.</a:t>
            </a:r>
          </a:p>
          <a:p>
            <a:pPr algn="l">
              <a:lnSpc>
                <a:spcPts val="3080"/>
              </a:lnSpc>
              <a:spcBef>
                <a:spcPct val="0"/>
              </a:spcBef>
            </a:pPr>
            <a:r>
              <a:rPr lang="en-US" sz="2200">
                <a:solidFill>
                  <a:srgbClr val="000000"/>
                </a:solidFill>
                <a:latin typeface="Codec Pro"/>
                <a:ea typeface="Codec Pro"/>
                <a:cs typeface="Codec Pro"/>
                <a:sym typeface="Codec Pro"/>
              </a:rPr>
              <a:t> The system is fully prepared for future enhancements and integrations.</a:t>
            </a:r>
          </a:p>
          <a:p>
            <a:pPr algn="l">
              <a:lnSpc>
                <a:spcPts val="3080"/>
              </a:lnSpc>
              <a:spcBef>
                <a:spcPct val="0"/>
              </a:spcBef>
            </a:pPr>
          </a:p>
          <a:p>
            <a:pPr algn="l" marL="474981" indent="-237491" lvl="1">
              <a:lnSpc>
                <a:spcPts val="3080"/>
              </a:lnSpc>
              <a:spcBef>
                <a:spcPct val="0"/>
              </a:spcBef>
              <a:buFont typeface="Arial"/>
              <a:buChar char="•"/>
            </a:pPr>
            <a:r>
              <a:rPr lang="en-US" sz="2200">
                <a:solidFill>
                  <a:srgbClr val="000000"/>
                </a:solidFill>
                <a:latin typeface="Codec Pro"/>
                <a:ea typeface="Codec Pro"/>
                <a:cs typeface="Codec Pro"/>
                <a:sym typeface="Codec Pro"/>
              </a:rPr>
              <a:t>Modernized</a:t>
            </a:r>
          </a:p>
          <a:p>
            <a:pPr algn="l" marL="474981" indent="-237491" lvl="1">
              <a:lnSpc>
                <a:spcPts val="3080"/>
              </a:lnSpc>
              <a:spcBef>
                <a:spcPct val="0"/>
              </a:spcBef>
              <a:buFont typeface="Arial"/>
              <a:buChar char="•"/>
            </a:pPr>
            <a:r>
              <a:rPr lang="en-US" sz="2200">
                <a:solidFill>
                  <a:srgbClr val="000000"/>
                </a:solidFill>
                <a:latin typeface="Codec Pro"/>
                <a:ea typeface="Codec Pro"/>
                <a:cs typeface="Codec Pro"/>
                <a:sym typeface="Codec Pro"/>
              </a:rPr>
              <a:t>Automated</a:t>
            </a:r>
          </a:p>
          <a:p>
            <a:pPr algn="l" marL="474981" indent="-237491" lvl="1">
              <a:lnSpc>
                <a:spcPts val="3080"/>
              </a:lnSpc>
              <a:spcBef>
                <a:spcPct val="0"/>
              </a:spcBef>
              <a:buFont typeface="Arial"/>
              <a:buChar char="•"/>
            </a:pPr>
            <a:r>
              <a:rPr lang="en-US" sz="2200">
                <a:solidFill>
                  <a:srgbClr val="000000"/>
                </a:solidFill>
                <a:latin typeface="Codec Pro"/>
                <a:ea typeface="Codec Pro"/>
                <a:cs typeface="Codec Pro"/>
                <a:sym typeface="Codec Pro"/>
              </a:rPr>
              <a:t>Scalable</a:t>
            </a:r>
          </a:p>
          <a:p>
            <a:pPr algn="l" marL="474981" indent="-237491" lvl="1">
              <a:lnSpc>
                <a:spcPts val="3080"/>
              </a:lnSpc>
              <a:spcBef>
                <a:spcPct val="0"/>
              </a:spcBef>
              <a:buFont typeface="Arial"/>
              <a:buChar char="•"/>
            </a:pPr>
            <a:r>
              <a:rPr lang="en-US" sz="2200">
                <a:solidFill>
                  <a:srgbClr val="000000"/>
                </a:solidFill>
                <a:latin typeface="Codec Pro"/>
                <a:ea typeface="Codec Pro"/>
                <a:cs typeface="Codec Pro"/>
                <a:sym typeface="Codec Pro"/>
              </a:rPr>
              <a:t>Reliable</a:t>
            </a:r>
          </a:p>
          <a:p>
            <a:pPr algn="l">
              <a:lnSpc>
                <a:spcPts val="308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DAG4M8ZVhzA</dc:identifier>
  <dcterms:modified xsi:type="dcterms:W3CDTF">2011-08-01T06:04:30Z</dcterms:modified>
  <cp:revision>1</cp:revision>
  <dc:title>IndoorApp Cloud Migration Case Study</dc:title>
</cp:coreProperties>
</file>